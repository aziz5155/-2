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43891200" cx="32918400"/>
  <p:notesSz cx="6858000" cy="9144000"/>
  <p:embeddedFontLst>
    <p:embeddedFont>
      <p:font typeface="IBM Plex Sans Arabic Medium"/>
      <p:regular r:id="rId8"/>
      <p:bold r:id="rId9"/>
    </p:embeddedFont>
    <p:embeddedFont>
      <p:font typeface="IBM Plex Sans Arabic"/>
      <p:regular r:id="rId10"/>
      <p:bold r:id="rId11"/>
    </p:embeddedFont>
    <p:embeddedFont>
      <p:font typeface="IBM Plex Sans Arabic Light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824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824" orient="horz"/>
        <p:guide pos="103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font" Target="fonts/IBMPlexSansArabicMedium-regular.fntdata"/><Relationship Id="rId9" Type="http://schemas.openxmlformats.org/officeDocument/2006/relationships/font" Target="fonts/IBMPlexSansArabicMedium-bold.fntdata"/><Relationship Id="rId10" Type="http://schemas.openxmlformats.org/officeDocument/2006/relationships/font" Target="fonts/IBMPlexSansArabic-regular.fntdata"/><Relationship Id="rId11" Type="http://schemas.openxmlformats.org/officeDocument/2006/relationships/font" Target="fonts/IBMPlexSansArabic-bold.fntdata"/><Relationship Id="rId12" Type="http://schemas.openxmlformats.org/officeDocument/2006/relationships/font" Target="fonts/IBMPlexSansArabicLight-regular.fntdata"/><Relationship Id="rId13" Type="http://schemas.openxmlformats.org/officeDocument/2006/relationships/font" Target="fonts/IBMPlexSansArabicLight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 Group (18 and above)" type="title">
  <p:cSld name="TITLE">
    <p:bg>
      <p:bgPr>
        <a:gradFill>
          <a:gsLst>
            <a:gs pos="0">
              <a:srgbClr val="0E3F3C"/>
            </a:gs>
            <a:gs pos="100000">
              <a:srgbClr val="0E3F3C">
                <a:alpha val="36078"/>
              </a:srgbClr>
            </a:gs>
          </a:gsLst>
          <a:lin ang="5400700" scaled="0"/>
        </a:gra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4000" y="680350"/>
            <a:ext cx="2889774" cy="209675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/>
          <p:nvPr/>
        </p:nvSpPr>
        <p:spPr>
          <a:xfrm>
            <a:off x="150" y="0"/>
            <a:ext cx="32918400" cy="43891200"/>
          </a:xfrm>
          <a:prstGeom prst="rect">
            <a:avLst/>
          </a:prstGeom>
          <a:gradFill>
            <a:gsLst>
              <a:gs pos="0">
                <a:srgbClr val="0E3F3C"/>
              </a:gs>
              <a:gs pos="100000">
                <a:srgbClr val="0E3F3C">
                  <a:alpha val="36078"/>
                </a:srgbClr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4000" y="680350"/>
            <a:ext cx="2889774" cy="209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/>
        </p:nvSpPr>
        <p:spPr>
          <a:xfrm>
            <a:off x="30650961" y="1344105"/>
            <a:ext cx="15060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200" lIns="125200" spcFirstLastPara="1" rIns="125200" wrap="square" tIns="1252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بتنظــــــيـــم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مـــــــــــــــــــــن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pic>
        <p:nvPicPr>
          <p:cNvPr id="11" name="Google Shape;11;p2" title="شعار وزارة الداخلية المعتمد ابيض-0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95830" y="1243809"/>
            <a:ext cx="1255086" cy="121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twq white-17.png"/>
          <p:cNvPicPr preferRelativeResize="0"/>
          <p:nvPr/>
        </p:nvPicPr>
        <p:blipFill rotWithShape="1">
          <a:blip r:embed="rId4">
            <a:alphaModFix/>
          </a:blip>
          <a:srcRect b="0" l="8821" r="8821" t="0"/>
          <a:stretch/>
        </p:blipFill>
        <p:spPr>
          <a:xfrm>
            <a:off x="27772505" y="1001463"/>
            <a:ext cx="1506063" cy="145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title="tahaluf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941979" y="1403384"/>
            <a:ext cx="1635614" cy="850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2"/>
          <p:cNvCxnSpPr/>
          <p:nvPr/>
        </p:nvCxnSpPr>
        <p:spPr>
          <a:xfrm>
            <a:off x="25615789" y="1361460"/>
            <a:ext cx="0" cy="896700"/>
          </a:xfrm>
          <a:prstGeom prst="straightConnector1">
            <a:avLst/>
          </a:prstGeom>
          <a:noFill/>
          <a:ln cap="flat" cmpd="sng" w="22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/>
        </p:nvSpPr>
        <p:spPr>
          <a:xfrm>
            <a:off x="23394008" y="1344116"/>
            <a:ext cx="18957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200" lIns="125200" spcFirstLastPara="1" rIns="125200" wrap="square" tIns="1252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الشـــــريــــــك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الاستراتيجي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cxnSp>
        <p:nvCxnSpPr>
          <p:cNvPr id="16" name="Google Shape;16;p2"/>
          <p:cNvCxnSpPr/>
          <p:nvPr/>
        </p:nvCxnSpPr>
        <p:spPr>
          <a:xfrm>
            <a:off x="21865243" y="1361460"/>
            <a:ext cx="0" cy="896700"/>
          </a:xfrm>
          <a:prstGeom prst="straightConnector1">
            <a:avLst/>
          </a:prstGeom>
          <a:noFill/>
          <a:ln cap="flat" cmpd="sng" w="22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" name="Google Shape;1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211673" y="1323726"/>
            <a:ext cx="1331205" cy="101169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/>
        </p:nvSpPr>
        <p:spPr>
          <a:xfrm>
            <a:off x="15539071" y="1344116"/>
            <a:ext cx="18957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200" lIns="125200" spcFirstLastPara="1" rIns="125200" wrap="square" tIns="1252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الشريــــــــك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4"/>
              <a:buFont typeface="Arial"/>
              <a:buNone/>
            </a:pPr>
            <a:r>
              <a:rPr b="0" i="0" lang="en-GB" sz="2464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الرئيســـــــي</a:t>
            </a:r>
            <a:endParaRPr b="0" i="0" sz="2464" u="none" cap="none" strike="noStrike">
              <a:solidFill>
                <a:srgbClr val="FFFFFF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cxnSp>
        <p:nvCxnSpPr>
          <p:cNvPr id="19" name="Google Shape;19;p2"/>
          <p:cNvCxnSpPr/>
          <p:nvPr/>
        </p:nvCxnSpPr>
        <p:spPr>
          <a:xfrm>
            <a:off x="17862801" y="1361460"/>
            <a:ext cx="0" cy="896700"/>
          </a:xfrm>
          <a:prstGeom prst="straightConnector1">
            <a:avLst/>
          </a:prstGeom>
          <a:noFill/>
          <a:ln cap="flat" cmpd="sng" w="22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57675" y="1378192"/>
            <a:ext cx="2272809" cy="89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2"/>
          <p:cNvGrpSpPr/>
          <p:nvPr/>
        </p:nvGrpSpPr>
        <p:grpSpPr>
          <a:xfrm>
            <a:off x="18170585" y="1093011"/>
            <a:ext cx="3343022" cy="1315933"/>
            <a:chOff x="1631065" y="8602597"/>
            <a:chExt cx="621033" cy="244470"/>
          </a:xfrm>
        </p:grpSpPr>
        <p:sp>
          <p:nvSpPr>
            <p:cNvPr id="22" name="Google Shape;22;p2"/>
            <p:cNvSpPr txBox="1"/>
            <p:nvPr/>
          </p:nvSpPr>
          <p:spPr>
            <a:xfrm>
              <a:off x="1948198" y="8641256"/>
              <a:ext cx="3039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350" lIns="156350" spcFirstLastPara="1" rIns="156350" wrap="square" tIns="15635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0"/>
                <a:buFont typeface="Arial"/>
                <a:buNone/>
              </a:pPr>
              <a:r>
                <a:rPr b="0" i="0" lang="en-GB" sz="2480" u="none" cap="none" strike="noStrike">
                  <a:solidFill>
                    <a:srgbClr val="FFFFFF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الشريــــــــك</a:t>
              </a:r>
              <a:endParaRPr b="0" i="0" sz="248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80"/>
                <a:buFont typeface="Arial"/>
                <a:buNone/>
              </a:pPr>
              <a:r>
                <a:rPr b="0" i="0" lang="en-GB" sz="2480" u="none" cap="none" strike="noStrike">
                  <a:solidFill>
                    <a:srgbClr val="FFFFFF"/>
                  </a:solidFill>
                  <a:latin typeface="IBM Plex Sans Arabic"/>
                  <a:ea typeface="IBM Plex Sans Arabic"/>
                  <a:cs typeface="IBM Plex Sans Arabic"/>
                  <a:sym typeface="IBM Plex Sans Arabic"/>
                </a:rPr>
                <a:t>المؤســــــس</a:t>
              </a:r>
              <a:endParaRPr b="0" i="0" sz="2480" u="none" cap="none" strike="noStrike">
                <a:solidFill>
                  <a:srgbClr val="FFFFF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endParaRPr>
            </a:p>
          </p:txBody>
        </p:sp>
        <p:pic>
          <p:nvPicPr>
            <p:cNvPr id="23" name="Google Shape;23;p2" title="Tahakom.png"/>
            <p:cNvPicPr preferRelativeResize="0"/>
            <p:nvPr/>
          </p:nvPicPr>
          <p:blipFill rotWithShape="1">
            <a:blip r:embed="rId8">
              <a:alphaModFix/>
            </a:blip>
            <a:srcRect b="23333" l="16852" r="16852" t="23333"/>
            <a:stretch/>
          </p:blipFill>
          <p:spPr>
            <a:xfrm>
              <a:off x="1631065" y="8602597"/>
              <a:ext cx="303907" cy="2444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3F3C"/>
            </a:gs>
            <a:gs pos="100000">
              <a:srgbClr val="0E3F3C">
                <a:alpha val="36078"/>
              </a:srgbClr>
            </a:gs>
          </a:gsLst>
          <a:lin ang="5400700" scaled="0"/>
        </a:gra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06100" y="3404750"/>
            <a:ext cx="31306200" cy="366468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1228725" y="3855163"/>
            <a:ext cx="16344900" cy="17044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endParaRPr b="1" i="0" sz="7200" u="none" cap="none" strike="noStrike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  <a:r>
              <a:rPr b="1" i="0" lang="en-GB" sz="44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ATHAR — Smart Assistant for Missing-Person Search</a:t>
            </a:r>
          </a:p>
          <a:p>
            <a:pPr indent="0" lvl="0" marL="0" marR="0" rt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endParaRPr b="1" i="0" sz="7200" u="none" cap="none" strike="noStrike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  <a:r>
              <a:rPr b="0" i="1" lang="en-GB" sz="24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Bayesian Search-Area Prioritization Using Trip Context and Delayed Location Evidence</a:t>
            </a:r>
          </a:p>
        </p:txBody>
      </p:sp>
      <p:sp>
        <p:nvSpPr>
          <p:cNvPr id="30" name="Google Shape;30;p3"/>
          <p:cNvSpPr txBox="1"/>
          <p:nvPr/>
        </p:nvSpPr>
        <p:spPr>
          <a:xfrm>
            <a:off x="1228725" y="5559655"/>
            <a:ext cx="1552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0" lang="en-GB" sz="44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Student Name: ABDULAZIZ KHALID ALJURAID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1" lang="en-GB" sz="26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King Saud University</a:t>
            </a:r>
          </a:p>
        </p:txBody>
      </p:sp>
      <p:sp>
        <p:nvSpPr>
          <p:cNvPr id="31" name="Google Shape;31;p3"/>
          <p:cNvSpPr txBox="1"/>
          <p:nvPr/>
        </p:nvSpPr>
        <p:spPr>
          <a:xfrm>
            <a:off x="25742325" y="5559655"/>
            <a:ext cx="604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b="0" i="0" sz="4800" u="none" cap="none" strike="noStrike">
              <a:solidFill>
                <a:srgbClr val="0E3F3C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  <a:r>
              <a:rPr b="0" i="0" lang="en-GB" sz="4000" u="none" cap="none" strike="noStrike">
                <a:solidFill>
                  <a:srgbClr val="0E3F3C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ID: pending</a:t>
            </a:r>
          </a:p>
        </p:txBody>
      </p:sp>
      <p:sp>
        <p:nvSpPr>
          <p:cNvPr id="32" name="Google Shape;32;p3"/>
          <p:cNvSpPr/>
          <p:nvPr/>
        </p:nvSpPr>
        <p:spPr>
          <a:xfrm>
            <a:off x="30469425" y="4230180"/>
            <a:ext cx="1315500" cy="923400"/>
          </a:xfrm>
          <a:prstGeom prst="rect">
            <a:avLst/>
          </a:prstGeom>
          <a:noFill/>
          <a:ln cap="flat" cmpd="sng" w="9525">
            <a:solidFill>
              <a:srgbClr val="0E3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Country Flag Here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06100" y="7805180"/>
            <a:ext cx="126051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4173200" y="7805180"/>
            <a:ext cx="179331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1228725" y="8391555"/>
            <a:ext cx="1180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Introduction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14563725" y="8391555"/>
            <a:ext cx="1722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Methodology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06100" y="20997230"/>
            <a:ext cx="169485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8554700" y="20997230"/>
            <a:ext cx="13551600" cy="124563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1228725" y="21583605"/>
            <a:ext cx="160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Results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19017900" y="21583605"/>
            <a:ext cx="126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Innovation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1228725" y="9329655"/>
            <a:ext cx="118014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0" lang="en-GB" sz="2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Missing-traveler search requires combining incomplete location evidence with trip context. Terrain-aware Bayesian models represent uncertain movement [1], while out-of-sequence measurement research addresses delayed observations [2]. Under intermittent connectivity, a received fix may describe a past position, not the traveler's current location.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1" i="0" lang="en-GB" sz="2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 xml:space="preserve">Objective: </a:t>
            </a:r>
            <a:r>
              <a:rPr b="0" i="0" lang="en-GB" sz="2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specify a reproducible framework for updating search regions using observation-time evidence, and ranking candidate areas by model weight and estimated search effort.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1" lang="en-GB" sz="32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“Can observation-time updates improve ground-truth inclusion at a fixed search-area budget, compared with receipt-time updates?”</a:t>
            </a:r>
          </a:p>
        </p:txBody>
      </p:sp>
      <p:sp>
        <p:nvSpPr>
          <p:cNvPr id="42" name="Google Shape;42;p3"/>
          <p:cNvSpPr txBox="1"/>
          <p:nvPr/>
        </p:nvSpPr>
        <p:spPr>
          <a:xfrm>
            <a:off x="14563725" y="9329655"/>
            <a:ext cx="172212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0" lang="en-GB" sz="22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ATHAR combines a trip plan, a timestamped evidence log, and a road-and-terrain motion model (Figure 1), deduplicating fixes and propagating vehicle, walking and stationary states over time.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1" i="0" lang="en-GB" sz="19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Eq. 1 — Evidence weight update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1" i="0" lang="en-GB" sz="22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w′(s) = [ L(e|s) · w(s) ] / Σ [ L(e|s*) · w(s*) ]</a:t>
            </a: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0" lang="en-GB" sz="15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w = prior weight · w′ = updated weight · L = evidence compatibility, applied at the evidence's observed time.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0" lang="en-GB" sz="22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A late fix restores a checkpoint and replays evidence (Figure 2). Regions are then ranked by weight relative to access and search time (full formula in the appendix).</a:t>
            </a:r>
          </a:p>
        </p:txBody>
      </p:sp>
      <p:sp>
        <p:nvSpPr>
          <p:cNvPr id="43" name="Google Shape;43;p3"/>
          <p:cNvSpPr txBox="1"/>
          <p:nvPr/>
        </p:nvSpPr>
        <p:spPr>
          <a:xfrm>
            <a:off x="1228725" y="22551755"/>
            <a:ext cx="160305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0" lang="en-GB" sz="26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Current outputs comprise a system architecture, interface mock-ups and a specified evidence-update workflow (Design-Stage Outputs). Quantitative performance has not yet been evaluated.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1" lang="en-GB" sz="20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Legend: Observed fix — Planned route — Estimated search region</a:t>
            </a:r>
          </a:p>
        </p:txBody>
      </p:sp>
      <p:sp>
        <p:nvSpPr>
          <p:cNvPr id="44" name="Google Shape;44;p3"/>
          <p:cNvSpPr txBox="1"/>
          <p:nvPr/>
        </p:nvSpPr>
        <p:spPr>
          <a:xfrm>
            <a:off x="19017967" y="22513655"/>
            <a:ext cx="12605100" cy="10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0" lang="en-GB" sz="2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The proposed contribution is an auditable workflow linking pre-trip context, observation-time evidence replay, and effort-aware search-area ranking. Recorded locations stay distinct from current estimates, and every priority update traces back to its evidence and assumptions.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1" lang="en-GB" sz="22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A proposed system design — not a claim of priority over Bayesian search modeling or out-of-sequence estimation generally.</a:t>
            </a:r>
          </a:p>
        </p:txBody>
      </p:sp>
      <p:sp>
        <p:nvSpPr>
          <p:cNvPr id="45" name="Google Shape;45;p3"/>
          <p:cNvSpPr/>
          <p:nvPr/>
        </p:nvSpPr>
        <p:spPr>
          <a:xfrm>
            <a:off x="806100" y="34189280"/>
            <a:ext cx="16948500" cy="84750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8554700" y="34189280"/>
            <a:ext cx="13551600" cy="8475000"/>
          </a:xfrm>
          <a:prstGeom prst="rect">
            <a:avLst/>
          </a:prstGeom>
          <a:solidFill>
            <a:srgbClr val="F4F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228725" y="34775655"/>
            <a:ext cx="1603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Conclusion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9017900" y="34775655"/>
            <a:ext cx="1260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GB" sz="4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Future Work &amp; References </a:t>
            </a:r>
            <a:endParaRPr b="0" i="0" sz="48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1228725" y="35729300"/>
            <a:ext cx="16030500" cy="6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0" lang="en-GB" sz="30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ATHAR defines a design-stage framework for organizing trip evidence and updating search priorities under intermittent connectivity. The current contribution is a documented computational workflow and interface concept; its operational benefit remains to be established through implementation and comparative evaluation.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1" lang="en-GB" sz="24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Estimates support human review and do not establish live location after disconnection.</a:t>
            </a:r>
          </a:p>
        </p:txBody>
      </p:sp>
      <p:sp>
        <p:nvSpPr>
          <p:cNvPr id="50" name="Google Shape;50;p3"/>
          <p:cNvSpPr txBox="1"/>
          <p:nvPr/>
        </p:nvSpPr>
        <p:spPr>
          <a:xfrm>
            <a:off x="19017974" y="35705705"/>
            <a:ext cx="12605100" cy="6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1" i="0" lang="en-GB" sz="23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 xml:space="preserve">1. Implementation — </a:t>
            </a:r>
            <a:r>
              <a:rPr b="0" i="0" lang="en-GB" sz="23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build an executable pipeline for evidence intake, region updates and incident-card generation.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1" i="0" lang="en-GB" sz="23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 xml:space="preserve">2. Controlled evaluation — </a:t>
            </a:r>
            <a:r>
              <a:rPr b="0" i="0" lang="en-GB" sz="23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replay known trips under message delay, disconnection and measurement noise, comparing methods.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1" i="0" lang="en-GB" sz="23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 xml:space="preserve">3. Supervised usability assessment — </a:t>
            </a:r>
            <a:r>
              <a:rPr b="0" i="0" lang="en-GB" sz="23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evaluate clarity of priorities with domain reviewers, after computational verification.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rgbClr val="0E3F3C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  <a:r>
              <a:rPr b="0" i="1" lang="en-GB" sz="1800" u="none" cap="none" strike="noStrike">
                <a:solidFill>
                  <a:srgbClr val="0E3F3C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Full reference list [1]–[5] and the evaluation appendix are linked via the QR code above.</a:t>
            </a:r>
          </a:p>
        </p:txBody>
      </p:sp>
      <p:sp>
        <p:nvSpPr>
          <p:cNvPr id="51" name="Google Shape;51;p3"/>
          <p:cNvSpPr txBox="1"/>
          <p:nvPr/>
        </p:nvSpPr>
        <p:spPr>
          <a:xfrm>
            <a:off x="806100" y="43005255"/>
            <a:ext cx="31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  <a:r>
              <a:rPr b="1" i="0" lang="en-GB" sz="18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 xml:space="preserve">Acknowledgments Statement: </a:t>
            </a:r>
            <a:r>
              <a:rPr b="0" i="0" lang="en-GB" sz="18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No external funding or institutional support to acknowledge.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29207275" y="4230180"/>
            <a:ext cx="923400" cy="923400"/>
          </a:xfrm>
          <a:prstGeom prst="rect">
            <a:avLst/>
          </a:prstGeom>
          <a:noFill/>
          <a:ln cap="flat" cmpd="sng" w="9525">
            <a:solidFill>
              <a:srgbClr val="0E3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Booth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Number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7945125" y="4230180"/>
            <a:ext cx="923400" cy="923400"/>
          </a:xfrm>
          <a:prstGeom prst="rect">
            <a:avLst/>
          </a:prstGeom>
          <a:noFill/>
          <a:ln cap="flat" cmpd="sng" w="9525">
            <a:solidFill>
              <a:srgbClr val="0E3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QR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IBM Plex Sans Arabic Light"/>
              <a:ea typeface="IBM Plex Sans Arabic Light"/>
              <a:cs typeface="IBM Plex Sans Arabic Light"/>
              <a:sym typeface="IBM Plex Sans Arabic Light"/>
            </a:endParaRPr>
          </a:p>
        </p:txBody>
      </p:sp>
      <p:pic>
        <p:nvPicPr>
          <p:cNvPr id="54" name="Picture 53" descr="figure1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3725" y="12260815"/>
            <a:ext cx="5754148" cy="39319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563725" y="16320751"/>
            <a:ext cx="1722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800">
                <a:solidFill>
                  <a:srgbClr val="0E3F3C"/>
                </a:solidFill>
                <a:latin typeface="IBM Plex Sans Arabic Medium"/>
              </a:rPr>
              <a:t>1. Proposed system architecture. </a:t>
            </a:r>
            <a:r>
              <a:rPr b="0" i="1" sz="1800">
                <a:solidFill>
                  <a:srgbClr val="5A6472"/>
                </a:solidFill>
                <a:latin typeface="IBM Plex Sans Arabic"/>
              </a:rPr>
              <a:t>Data flow from intake through analysis to the monitor interface; the highlighted arrow marks the recompute trigger. Design-stage architecture.</a:t>
            </a:r>
          </a:p>
        </p:txBody>
      </p:sp>
      <p:pic>
        <p:nvPicPr>
          <p:cNvPr id="56" name="Picture 55" descr="figure2-late-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3725" y="17075131"/>
            <a:ext cx="4937760" cy="16459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4563725" y="18849067"/>
            <a:ext cx="1722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800">
                <a:solidFill>
                  <a:srgbClr val="0E3F3C"/>
                </a:solidFill>
                <a:latin typeface="IBM Plex Sans Arabic Medium"/>
              </a:rPr>
              <a:t>2. Observation-time processing of delayed evidence. </a:t>
            </a:r>
            <a:r>
              <a:rPr b="0" i="1" sz="1800">
                <a:solidFill>
                  <a:srgbClr val="5A6472"/>
                </a:solidFill>
                <a:latin typeface="IBM Plex Sans Arabic"/>
              </a:rPr>
              <a:t>Restore → Insert → Replay → Predict → Publish. Design-stage workflow, not a measured run.</a:t>
            </a:r>
          </a:p>
        </p:txBody>
      </p:sp>
      <p:pic>
        <p:nvPicPr>
          <p:cNvPr id="58" name="Picture 57" descr="figure3-search-upd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981" y="24600265"/>
            <a:ext cx="12797987" cy="64008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28725" y="31129081"/>
            <a:ext cx="160305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800">
                <a:solidFill>
                  <a:srgbClr val="0E3F3C"/>
                </a:solidFill>
                <a:latin typeface="IBM Plex Sans Arabic Medium"/>
              </a:rPr>
              <a:t>3. Design-stage search-update illustration. </a:t>
            </a:r>
            <a:r>
              <a:rPr b="0" i="1" sz="1800">
                <a:solidFill>
                  <a:srgbClr val="5A6472"/>
                </a:solidFill>
                <a:latin typeface="IBM Plex Sans Arabic"/>
              </a:rPr>
              <a:t>Two maps at 16:40: (A) before the 16:20 fix is inserted; (B) after it is replayed. Schematic illustration; regions are not computed experimental output.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19145983" y="25927415"/>
          <a:ext cx="12344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651760"/>
                <a:gridCol w="2651760"/>
                <a:gridCol w="2651760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IBM Plex Sans Arabic Medium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0E3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IBM Plex Sans Arabic Medium"/>
                        </a:rPr>
                        <a:t>Last-known
location view</a:t>
                      </a:r>
                    </a:p>
                  </a:txBody>
                  <a:tcPr marL="73152" marR="73152" marT="36576" marB="36576" anchor="ctr">
                    <a:solidFill>
                      <a:srgbClr val="0E3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IBM Plex Sans Arabic Medium"/>
                        </a:rPr>
                        <a:t>Receipt-time
baseline</a:t>
                      </a:r>
                    </a:p>
                  </a:txBody>
                  <a:tcPr marL="73152" marR="73152" marT="36576" marB="36576" anchor="ctr">
                    <a:solidFill>
                      <a:srgbClr val="0E3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IBM Plex Sans Arabic Medium"/>
                        </a:rPr>
                        <a:t>ATHAR
(proposed)</a:t>
                      </a:r>
                    </a:p>
                  </a:txBody>
                  <a:tcPr marL="73152" marR="73152" marT="36576" marB="36576" anchor="ctr">
                    <a:solidFill>
                      <a:srgbClr val="0E3F3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Uses trip context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E3F3C"/>
                          </a:solidFill>
                          <a:latin typeface="IBM Plex Sans Arabic Medium"/>
                        </a:rPr>
                        <a:t>Proposed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Orders by observation time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E3F3C"/>
                          </a:solidFill>
                          <a:latin typeface="IBM Plex Sans Arabic Medium"/>
                        </a:rPr>
                        <a:t>Proposed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Distinguishes recorded vs.
estimated position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Partial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E3F3C"/>
                          </a:solidFill>
                          <a:latin typeface="IBM Plex Sans Arabic Medium"/>
                        </a:rPr>
                        <a:t>Proposed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Ranks by access + search effort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E3F3C"/>
                          </a:solidFill>
                          <a:latin typeface="IBM Plex Sans Arabic Medium"/>
                        </a:rPr>
                        <a:t>Proposed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19145990" y="38878165"/>
          <a:ext cx="12344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966960"/>
              </a:tblGrid>
              <a:tr h="457200">
                <a:tc gridSpan="2"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IBM Plex Sans Arabic Medium"/>
                        </a:rPr>
                        <a:t>Evaluation plan</a:t>
                      </a:r>
                    </a:p>
                  </a:txBody>
                  <a:tcPr marL="73152" marR="73152" marT="36576" marB="36576" anchor="ctr">
                    <a:solidFill>
                      <a:srgbClr val="0E3F3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3F3C"/>
                          </a:solidFill>
                          <a:latin typeface="IBM Plex Sans Arabic Medium"/>
                        </a:rPr>
                        <a:t>Metrics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Ground-truth inclusion at matched budget · arrival-order consistency · recalculation latency · incident-card prep time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3F3C"/>
                          </a:solidFill>
                          <a:latin typeface="IBM Plex Sans Arabic Medium"/>
                        </a:rPr>
                        <a:t>Baselines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Last-known circle · road/time access radius · receipt-time processing · full observation-time processing (proposed)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3F3C"/>
                          </a:solidFill>
                          <a:latin typeface="IBM Plex Sans Arabic Medium"/>
                        </a:rPr>
                        <a:t>Ablations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E3F3C"/>
                          </a:solidFill>
                          <a:latin typeface="IBM Plex Sans Arabic Medium"/>
                        </a:rPr>
                        <a:t>Without trip plan · without temporal replay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IF Po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