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7308092"/>
  <p:notesSz cx="37308092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3246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19604736" y="182880"/>
            <a:ext cx="1005840" cy="1005840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666976" y="2560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أثر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4666976" y="960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B9C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ذكي للبحث عن المفقودين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19833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معلومات أوضح، وبداية بحث أكثر تنظيمًا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7593056" y="251460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1A3A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593056" y="2514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مسابقة SAIF — ملصق علمي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1A3A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14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المشروع في مرحلة التصميم — بيانات ومحاكاة تجريبية بالكامل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45368" y="3749040"/>
            <a:ext cx="9665208" cy="603504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96176" y="3977640"/>
            <a:ext cx="640080" cy="640080"/>
          </a:xfrm>
          <a:prstGeom prst="ellipse">
            <a:avLst/>
          </a:prstGeom>
          <a:solidFill>
            <a:srgbClr val="FDEC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696176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1311128" y="4023360"/>
            <a:ext cx="8385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المشكلة والفئة المستفيدة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1311128" y="4800600"/>
            <a:ext cx="8933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تأخر مسافر في رحلة برية عن موعده المتوقع، غالبًا لا تكون لدى من يتابعه معلومات كافية ومنظمة عن وجهته ومساره وموعد اطمئنانه — مما يؤخر بدء أي تحرك ويبعثر الجهد في البحث دون أولويات واضحة.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311128" y="6720840"/>
            <a:ext cx="8933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الفئة المستفيدة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0089368" y="7379208"/>
            <a:ext cx="128016" cy="128016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311128" y="7315200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المسافرون وهواة البر والرحلات البرية الطويلة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20089368" y="7946136"/>
            <a:ext cx="128016" cy="128016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311128" y="7882128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الأشخاص الموثوقون المكلَّفون بمتابعة الرحلة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20089368" y="8513064"/>
            <a:ext cx="128016" cy="128016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311128" y="8449056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 ومنسقو البحث عند الحاجة الفعلية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3749040"/>
            <a:ext cx="9665208" cy="603504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28048" y="3977640"/>
            <a:ext cx="640080" cy="640080"/>
          </a:xfrm>
          <a:prstGeom prst="ellipse">
            <a:avLst/>
          </a:prstGeom>
          <a:solidFill>
            <a:srgbClr val="E9F7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28048" y="3950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023360"/>
            <a:ext cx="8385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هدف المشروع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800600"/>
            <a:ext cx="89336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تجهيز معلومات المسافر وخطة رحلته بشكل منظّم وقابل للمشاركة قبل حدوث أي طارئ، ثم استخدام الذكاء الاصطناعي عند الحاجة لاقتراح مناطق بحث محتملة وترتيبها حسب الأولوية — لتقليل الوقت الضائع في بداية الاستجابة.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6720840"/>
            <a:ext cx="8933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القيمة التي نريد اختبارها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921240" y="7379208"/>
            <a:ext cx="128016" cy="128016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43000" y="7315200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تقليل الوقت اللازم لتجهيز معلومات المسافر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9921240" y="7946136"/>
            <a:ext cx="128016" cy="128016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43000" y="7882128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المساعدة في ترتيب أولويات مناطق البحث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921240" y="8513064"/>
            <a:ext cx="128016" cy="128016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143000" y="8449056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رحلة واضحة وقابلة للمشاركة فورًا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10287000"/>
            <a:ext cx="19833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طريقة العمل: من تسجيل الرحلة إلى اقتراح مناطق البحث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777240" y="11064240"/>
            <a:ext cx="19833336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8247766" y="11315700"/>
            <a:ext cx="868680" cy="868680"/>
          </a:xfrm>
          <a:prstGeom prst="ellipse">
            <a:avLst/>
          </a:prstGeom>
          <a:solidFill>
            <a:srgbClr val="E9F7F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8247766" y="11315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16799357" y="12298680"/>
            <a:ext cx="37654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الرحلة</a:t>
            </a:r>
            <a:endParaRPr lang="en-US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16845077" y="12691872"/>
            <a:ext cx="36740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الوجهة، الموعد، المركبة والركاب، والشخص الموثوق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6570757" y="11567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14253667" y="11315700"/>
            <a:ext cx="868680" cy="868680"/>
          </a:xfrm>
          <a:prstGeom prst="ellipse">
            <a:avLst/>
          </a:prstGeom>
          <a:solidFill>
            <a:srgbClr val="E9F7F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4253667" y="11315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2600" dirty="0"/>
          </a:p>
        </p:txBody>
      </p:sp>
      <p:sp>
        <p:nvSpPr>
          <p:cNvPr id="44" name="Text 42"/>
          <p:cNvSpPr txBox="1"/>
          <p:nvPr/>
        </p:nvSpPr>
        <p:spPr>
          <a:xfrm>
            <a:off x="12805258" y="12298680"/>
            <a:ext cx="37654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حفظ المواقع</a:t>
            </a:r>
            <a:endParaRPr lang="en-US" sz="1550" dirty="0"/>
          </a:p>
        </p:txBody>
      </p:sp>
      <p:sp>
        <p:nvSpPr>
          <p:cNvPr id="45" name="Text 43"/>
          <p:cNvSpPr txBox="1"/>
          <p:nvPr/>
        </p:nvSpPr>
        <p:spPr>
          <a:xfrm>
            <a:off x="12850978" y="12691872"/>
            <a:ext cx="36740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إرسال آخر المواقع تلقائيًا أثناء توفر الاتصال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12576658" y="11567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10259568" y="11315700"/>
            <a:ext cx="868680" cy="868680"/>
          </a:xfrm>
          <a:prstGeom prst="ellipse">
            <a:avLst/>
          </a:prstGeom>
          <a:solidFill>
            <a:srgbClr val="E9F7F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0259568" y="11315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2600" dirty="0"/>
          </a:p>
        </p:txBody>
      </p:sp>
      <p:sp>
        <p:nvSpPr>
          <p:cNvPr id="49" name="Text 47"/>
          <p:cNvSpPr txBox="1"/>
          <p:nvPr/>
        </p:nvSpPr>
        <p:spPr>
          <a:xfrm>
            <a:off x="8811158" y="12298680"/>
            <a:ext cx="37654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تجاوز الموعد</a:t>
            </a:r>
            <a:endParaRPr lang="en-US" sz="1550" dirty="0"/>
          </a:p>
        </p:txBody>
      </p:sp>
      <p:sp>
        <p:nvSpPr>
          <p:cNvPr id="50" name="Text 48"/>
          <p:cNvSpPr txBox="1"/>
          <p:nvPr/>
        </p:nvSpPr>
        <p:spPr>
          <a:xfrm>
            <a:off x="8856878" y="12691872"/>
            <a:ext cx="36740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موعد الاطمئنان والمهلة المحددة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8582558" y="11567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265469" y="11315700"/>
            <a:ext cx="868680" cy="868680"/>
          </a:xfrm>
          <a:prstGeom prst="ellipse">
            <a:avLst/>
          </a:prstGeom>
          <a:solidFill>
            <a:srgbClr val="FDECE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265469" y="11315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</a:t>
            </a:r>
            <a:endParaRPr lang="en-US" sz="2600" dirty="0"/>
          </a:p>
        </p:txBody>
      </p:sp>
      <p:sp>
        <p:nvSpPr>
          <p:cNvPr id="54" name="Text 52"/>
          <p:cNvSpPr txBox="1"/>
          <p:nvPr/>
        </p:nvSpPr>
        <p:spPr>
          <a:xfrm>
            <a:off x="4817059" y="12298680"/>
            <a:ext cx="37654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 فوري</a:t>
            </a:r>
            <a:endParaRPr lang="en-US" sz="1550" dirty="0"/>
          </a:p>
        </p:txBody>
      </p:sp>
      <p:sp>
        <p:nvSpPr>
          <p:cNvPr id="55" name="Text 53"/>
          <p:cNvSpPr txBox="1"/>
          <p:nvPr/>
        </p:nvSpPr>
        <p:spPr>
          <a:xfrm>
            <a:off x="4862779" y="12691872"/>
            <a:ext cx="36740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 الشخص المسؤول ببطاقة رحلة جاهزة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4588459" y="11567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2271370" y="11315700"/>
            <a:ext cx="868680" cy="868680"/>
          </a:xfrm>
          <a:prstGeom prst="ellipse">
            <a:avLst/>
          </a:prstGeom>
          <a:solidFill>
            <a:srgbClr val="E9F7F5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2271370" y="11315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٥</a:t>
            </a:r>
            <a:endParaRPr lang="en-US" sz="2600" dirty="0"/>
          </a:p>
        </p:txBody>
      </p:sp>
      <p:sp>
        <p:nvSpPr>
          <p:cNvPr id="59" name="Text 57"/>
          <p:cNvSpPr txBox="1"/>
          <p:nvPr/>
        </p:nvSpPr>
        <p:spPr>
          <a:xfrm>
            <a:off x="822960" y="12298680"/>
            <a:ext cx="37654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اقتراح مناطق البحث</a:t>
            </a:r>
            <a:endParaRPr lang="en-US" sz="1550" dirty="0"/>
          </a:p>
        </p:txBody>
      </p:sp>
      <p:sp>
        <p:nvSpPr>
          <p:cNvPr id="60" name="Text 58"/>
          <p:cNvSpPr txBox="1"/>
          <p:nvPr/>
        </p:nvSpPr>
        <p:spPr>
          <a:xfrm>
            <a:off x="868680" y="12691872"/>
            <a:ext cx="36740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مناطق محتملة وتحديثها بالمعلومات الجديدة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777240" y="13898880"/>
            <a:ext cx="19833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تصور واجهات المشروع وخريطة توضيحية (بيانات تجريبية)</a:t>
            </a:r>
            <a:endParaRPr lang="en-US" sz="2400" dirty="0"/>
          </a:p>
        </p:txBody>
      </p:sp>
      <p:pic>
        <p:nvPicPr>
          <p:cNvPr id="62" name="Image 0" descr="/home/user/-2/saif-competition-materials/01-project-image/project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76120"/>
            <a:ext cx="19833336" cy="11156252"/>
          </a:xfrm>
          <a:prstGeom prst="rect">
            <a:avLst/>
          </a:prstGeom>
        </p:spPr>
      </p:pic>
      <p:sp>
        <p:nvSpPr>
          <p:cNvPr id="63" name="Shape 60"/>
          <p:cNvSpPr/>
          <p:nvPr/>
        </p:nvSpPr>
        <p:spPr>
          <a:xfrm>
            <a:off x="777240" y="14676120"/>
            <a:ext cx="19833336" cy="11156252"/>
          </a:xfrm>
          <a:prstGeom prst="roundRect">
            <a:avLst>
              <a:gd name="adj" fmla="val 984"/>
            </a:avLst>
          </a:prstGeom>
          <a:ln w="19050">
            <a:solidFill>
              <a:srgbClr val="E3E9F2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945368" y="26335292"/>
            <a:ext cx="9665208" cy="630936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2000"/>
              </a:srgbClr>
            </a:outerShdw>
          </a:effectLst>
        </p:spPr>
      </p:sp>
      <p:sp>
        <p:nvSpPr>
          <p:cNvPr id="65" name="Text 62"/>
          <p:cNvSpPr txBox="1"/>
          <p:nvPr/>
        </p:nvSpPr>
        <p:spPr>
          <a:xfrm>
            <a:off x="11311128" y="26609612"/>
            <a:ext cx="8933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القيمة المقترحة</a:t>
            </a:r>
            <a:endParaRPr lang="en-US" sz="2400" dirty="0"/>
          </a:p>
        </p:txBody>
      </p:sp>
      <p:sp>
        <p:nvSpPr>
          <p:cNvPr id="66" name="Text 63"/>
          <p:cNvSpPr txBox="1"/>
          <p:nvPr/>
        </p:nvSpPr>
        <p:spPr>
          <a:xfrm>
            <a:off x="11311128" y="27295412"/>
            <a:ext cx="8933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 خطة المسافر ومعلوماته المسجَّلة مسبقًا (الوجهة، المسار، آخر موقع، الوقت المنقضي، الطرق والتضاريس) لتجهيز بطاقة بحث جاهزة فورًا، وترتيب الاحتمالات بدل البدء من الصفر عند كل بلاغ.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11311128" y="29124212"/>
            <a:ext cx="8933688" cy="566928"/>
          </a:xfrm>
          <a:prstGeom prst="roundRect">
            <a:avLst>
              <a:gd name="adj" fmla="val 16129"/>
            </a:avLst>
          </a:prstGeom>
          <a:solidFill>
            <a:srgbClr val="E9F7F5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11494008" y="29124212"/>
            <a:ext cx="8567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أسرع في تجهيز المعلومات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11311128" y="29837444"/>
            <a:ext cx="8933688" cy="566928"/>
          </a:xfrm>
          <a:prstGeom prst="roundRect">
            <a:avLst>
              <a:gd name="adj" fmla="val 16129"/>
            </a:avLst>
          </a:prstGeom>
          <a:solidFill>
            <a:srgbClr val="E9F7F5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11494008" y="29837444"/>
            <a:ext cx="8567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أولويات لا تخمين عشوائي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11311128" y="30550676"/>
            <a:ext cx="8933688" cy="566928"/>
          </a:xfrm>
          <a:prstGeom prst="roundRect">
            <a:avLst>
              <a:gd name="adj" fmla="val 16129"/>
            </a:avLst>
          </a:prstGeom>
          <a:solidFill>
            <a:srgbClr val="E9F7F5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1494008" y="30550676"/>
            <a:ext cx="8567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يتحدّث مع كل معلومة جديدة</a:t>
            </a:r>
            <a:endParaRPr lang="en-US" sz="1400" dirty="0"/>
          </a:p>
        </p:txBody>
      </p:sp>
      <p:sp>
        <p:nvSpPr>
          <p:cNvPr id="73" name="Text 70"/>
          <p:cNvSpPr txBox="1"/>
          <p:nvPr/>
        </p:nvSpPr>
        <p:spPr>
          <a:xfrm>
            <a:off x="11311128" y="31684532"/>
            <a:ext cx="8933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ملاحظة: المواقع المقترحة تقديرات استرشادية وليست تتبعًا مباشرًا بعد انقطاع الاتصال.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777240" y="26335292"/>
            <a:ext cx="9665208" cy="630936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2000"/>
              </a:srgbClr>
            </a:outerShdw>
          </a:effectLst>
        </p:spPr>
      </p:sp>
      <p:sp>
        <p:nvSpPr>
          <p:cNvPr id="75" name="Text 72"/>
          <p:cNvSpPr txBox="1"/>
          <p:nvPr/>
        </p:nvSpPr>
        <p:spPr>
          <a:xfrm>
            <a:off x="1143000" y="26609612"/>
            <a:ext cx="8933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التحقق والنتائج المستهدفة</a:t>
            </a:r>
            <a:endParaRPr lang="en-US" sz="2400" dirty="0"/>
          </a:p>
        </p:txBody>
      </p:sp>
      <p:sp>
        <p:nvSpPr>
          <p:cNvPr id="76" name="Text 73"/>
          <p:cNvSpPr txBox="1"/>
          <p:nvPr/>
        </p:nvSpPr>
        <p:spPr>
          <a:xfrm>
            <a:off x="1143000" y="27295412"/>
            <a:ext cx="8933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 تُجرَ اختبارات فعلية بعد. خطة التحقق المقترحة:</a:t>
            </a:r>
            <a:endParaRPr lang="en-US" sz="1450" dirty="0"/>
          </a:p>
        </p:txBody>
      </p:sp>
      <p:sp>
        <p:nvSpPr>
          <p:cNvPr id="77" name="Text 74"/>
          <p:cNvSpPr txBox="1"/>
          <p:nvPr/>
        </p:nvSpPr>
        <p:spPr>
          <a:xfrm>
            <a:off x="9756648" y="27844052"/>
            <a:ext cx="365760" cy="365760"/>
          </a:xfrm>
          <a:prstGeom prst="rect">
            <a:avLst/>
          </a:prstGeom>
          <a:solidFill>
            <a:srgbClr val="1274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8" name="Text 75"/>
          <p:cNvSpPr txBox="1"/>
          <p:nvPr/>
        </p:nvSpPr>
        <p:spPr>
          <a:xfrm>
            <a:off x="1143000" y="27844052"/>
            <a:ext cx="8522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استخدام رحلات تجريبية معروفة المسار مسبقًا</a:t>
            </a:r>
            <a:endParaRPr lang="en-US" sz="1350" dirty="0"/>
          </a:p>
        </p:txBody>
      </p:sp>
      <p:sp>
        <p:nvSpPr>
          <p:cNvPr id="79" name="Text 76"/>
          <p:cNvSpPr txBox="1"/>
          <p:nvPr/>
        </p:nvSpPr>
        <p:spPr>
          <a:xfrm>
            <a:off x="9756648" y="28410980"/>
            <a:ext cx="365760" cy="365760"/>
          </a:xfrm>
          <a:prstGeom prst="rect">
            <a:avLst/>
          </a:prstGeom>
          <a:solidFill>
            <a:srgbClr val="1274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0" name="Text 77"/>
          <p:cNvSpPr txBox="1"/>
          <p:nvPr/>
        </p:nvSpPr>
        <p:spPr>
          <a:xfrm>
            <a:off x="1143000" y="28410980"/>
            <a:ext cx="8522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إخفاء المواقع بعد نقطة انقطاع افتراضية محدَّدة</a:t>
            </a:r>
            <a:endParaRPr lang="en-US" sz="1350" dirty="0"/>
          </a:p>
        </p:txBody>
      </p:sp>
      <p:sp>
        <p:nvSpPr>
          <p:cNvPr id="81" name="Text 78"/>
          <p:cNvSpPr txBox="1"/>
          <p:nvPr/>
        </p:nvSpPr>
        <p:spPr>
          <a:xfrm>
            <a:off x="9756648" y="28977908"/>
            <a:ext cx="365760" cy="365760"/>
          </a:xfrm>
          <a:prstGeom prst="rect">
            <a:avLst/>
          </a:prstGeom>
          <a:solidFill>
            <a:srgbClr val="1274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82" name="Text 79"/>
          <p:cNvSpPr txBox="1"/>
          <p:nvPr/>
        </p:nvSpPr>
        <p:spPr>
          <a:xfrm>
            <a:off x="1143000" y="28977908"/>
            <a:ext cx="8522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مناطق البحث المقترحة بالموقع الحقيقي</a:t>
            </a:r>
            <a:endParaRPr lang="en-US" sz="1350" dirty="0"/>
          </a:p>
        </p:txBody>
      </p:sp>
      <p:sp>
        <p:nvSpPr>
          <p:cNvPr id="83" name="Text 80"/>
          <p:cNvSpPr txBox="1"/>
          <p:nvPr/>
        </p:nvSpPr>
        <p:spPr>
          <a:xfrm>
            <a:off x="1143000" y="29681996"/>
            <a:ext cx="8933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مقاييس النجاح المستهدفة</a:t>
            </a:r>
            <a:endParaRPr lang="en-US" sz="1550" dirty="0"/>
          </a:p>
        </p:txBody>
      </p:sp>
      <p:sp>
        <p:nvSpPr>
          <p:cNvPr id="84" name="Shape 81"/>
          <p:cNvSpPr/>
          <p:nvPr/>
        </p:nvSpPr>
        <p:spPr>
          <a:xfrm>
            <a:off x="9925812" y="30198632"/>
            <a:ext cx="118872" cy="118872"/>
          </a:xfrm>
          <a:prstGeom prst="ellipse">
            <a:avLst/>
          </a:prstGeom>
          <a:solidFill>
            <a:srgbClr val="22A79A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1143000" y="30139196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احتواء المنطقة المقترحة للموقع الحقيقي</a:t>
            </a:r>
            <a:endParaRPr lang="en-US" sz="1300" dirty="0"/>
          </a:p>
        </p:txBody>
      </p:sp>
      <p:sp>
        <p:nvSpPr>
          <p:cNvPr id="86" name="Shape 83"/>
          <p:cNvSpPr/>
          <p:nvPr/>
        </p:nvSpPr>
        <p:spPr>
          <a:xfrm>
            <a:off x="9925812" y="30655832"/>
            <a:ext cx="118872" cy="118872"/>
          </a:xfrm>
          <a:prstGeom prst="ellipse">
            <a:avLst/>
          </a:prstGeom>
          <a:solidFill>
            <a:srgbClr val="22A79A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1143000" y="30596396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منطقة البحث المقترحة</a:t>
            </a:r>
            <a:endParaRPr lang="en-US" sz="1300" dirty="0"/>
          </a:p>
        </p:txBody>
      </p:sp>
      <p:sp>
        <p:nvSpPr>
          <p:cNvPr id="88" name="Shape 85"/>
          <p:cNvSpPr/>
          <p:nvPr/>
        </p:nvSpPr>
        <p:spPr>
          <a:xfrm>
            <a:off x="9925812" y="31113032"/>
            <a:ext cx="118872" cy="118872"/>
          </a:xfrm>
          <a:prstGeom prst="ellipse">
            <a:avLst/>
          </a:prstGeom>
          <a:solidFill>
            <a:srgbClr val="22A79A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1143000" y="31053596"/>
            <a:ext cx="8750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الوقت اللازم لتجهيز بطاقة المعلومات</a:t>
            </a:r>
            <a:endParaRPr lang="en-US" sz="1300" dirty="0"/>
          </a:p>
        </p:txBody>
      </p:sp>
      <p:sp>
        <p:nvSpPr>
          <p:cNvPr id="90" name="Text 87"/>
          <p:cNvSpPr txBox="1"/>
          <p:nvPr/>
        </p:nvSpPr>
        <p:spPr>
          <a:xfrm>
            <a:off x="1143000" y="31958852"/>
            <a:ext cx="8933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توجد شراكة قائمة مع جهة إنقاذ أو جامعة حتى الآن.</a:t>
            </a:r>
            <a:endParaRPr lang="en-US" sz="1150" dirty="0"/>
          </a:p>
        </p:txBody>
      </p:sp>
      <p:sp>
        <p:nvSpPr>
          <p:cNvPr id="91" name="Text 88"/>
          <p:cNvSpPr txBox="1"/>
          <p:nvPr/>
        </p:nvSpPr>
        <p:spPr>
          <a:xfrm>
            <a:off x="777240" y="33147572"/>
            <a:ext cx="19833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مصادر موثوقة</a:t>
            </a:r>
            <a:endParaRPr lang="en-US" sz="2200" dirty="0"/>
          </a:p>
        </p:txBody>
      </p:sp>
      <p:sp>
        <p:nvSpPr>
          <p:cNvPr id="92" name="Shape 89"/>
          <p:cNvSpPr/>
          <p:nvPr/>
        </p:nvSpPr>
        <p:spPr>
          <a:xfrm>
            <a:off x="777240" y="33787652"/>
            <a:ext cx="19833336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0B1F3A">
                <a:alpha val="12000"/>
              </a:srgbClr>
            </a:outerShdw>
          </a:effectLst>
        </p:spPr>
      </p:sp>
      <p:sp>
        <p:nvSpPr>
          <p:cNvPr id="93" name="Shape 90"/>
          <p:cNvSpPr/>
          <p:nvPr/>
        </p:nvSpPr>
        <p:spPr>
          <a:xfrm>
            <a:off x="10511028" y="34052828"/>
            <a:ext cx="109728" cy="109728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1143000" y="34016252"/>
            <a:ext cx="9276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Koester, R. — Lost Person Behavior، دراسة سلوك المفقودين المرجعية</a:t>
            </a:r>
            <a:endParaRPr lang="en-US" sz="1250" dirty="0"/>
          </a:p>
        </p:txBody>
      </p:sp>
      <p:sp>
        <p:nvSpPr>
          <p:cNvPr id="95" name="Text 92"/>
          <p:cNvSpPr txBox="1"/>
          <p:nvPr/>
        </p:nvSpPr>
        <p:spPr>
          <a:xfrm>
            <a:off x="1143000" y="34318004"/>
            <a:ext cx="9276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dbs-sar.com/LostPersonBehavior.htm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20427696" y="34052828"/>
            <a:ext cx="109728" cy="109728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11059668" y="34016252"/>
            <a:ext cx="9276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 Productions — قاعدة بيانات ISRID الدولية لحوادث البحث والإنقاذ</a:t>
            </a:r>
            <a:endParaRPr lang="en-US" sz="1250" dirty="0"/>
          </a:p>
        </p:txBody>
      </p:sp>
      <p:sp>
        <p:nvSpPr>
          <p:cNvPr id="98" name="Text 95"/>
          <p:cNvSpPr txBox="1"/>
          <p:nvPr/>
        </p:nvSpPr>
        <p:spPr>
          <a:xfrm>
            <a:off x="11059668" y="34318004"/>
            <a:ext cx="9276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dbs-sar.com/SAR_Research/ISRID.htm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10511028" y="34711196"/>
            <a:ext cx="109728" cy="109728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1143000" y="34674620"/>
            <a:ext cx="9276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IMO/ICAO — دليل IAMSAR الدولي للبحث والإنقاذ الجوي والبحري</a:t>
            </a:r>
            <a:endParaRPr lang="en-US" sz="1250" dirty="0"/>
          </a:p>
        </p:txBody>
      </p:sp>
      <p:sp>
        <p:nvSpPr>
          <p:cNvPr id="101" name="Text 98"/>
          <p:cNvSpPr txBox="1"/>
          <p:nvPr/>
        </p:nvSpPr>
        <p:spPr>
          <a:xfrm>
            <a:off x="1143000" y="34976372"/>
            <a:ext cx="9276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imo.org/en/ourwork/safety/pages/iamsarmanual.aspx</a:t>
            </a:r>
            <a:endParaRPr lang="en-US" sz="1100" dirty="0"/>
          </a:p>
        </p:txBody>
      </p:sp>
      <p:sp>
        <p:nvSpPr>
          <p:cNvPr id="102" name="Shape 99"/>
          <p:cNvSpPr/>
          <p:nvPr/>
        </p:nvSpPr>
        <p:spPr>
          <a:xfrm>
            <a:off x="20427696" y="34711196"/>
            <a:ext cx="109728" cy="109728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103" name="Text 100"/>
          <p:cNvSpPr txBox="1"/>
          <p:nvPr/>
        </p:nvSpPr>
        <p:spPr>
          <a:xfrm>
            <a:off x="11059668" y="34674620"/>
            <a:ext cx="9276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SARBayes — نماذج بايزية لاحتمالية مناطق البحث (WiSAR)</a:t>
            </a:r>
            <a:endParaRPr lang="en-US" sz="1250" dirty="0"/>
          </a:p>
        </p:txBody>
      </p:sp>
      <p:sp>
        <p:nvSpPr>
          <p:cNvPr id="104" name="Text 101"/>
          <p:cNvSpPr txBox="1"/>
          <p:nvPr/>
        </p:nvSpPr>
        <p:spPr>
          <a:xfrm>
            <a:off x="11059668" y="34976372"/>
            <a:ext cx="9276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sarbayes.org</a:t>
            </a:r>
            <a:endParaRPr lang="en-US" sz="1100" dirty="0"/>
          </a:p>
        </p:txBody>
      </p:sp>
      <p:sp>
        <p:nvSpPr>
          <p:cNvPr id="105" name="Shape 102"/>
          <p:cNvSpPr/>
          <p:nvPr/>
        </p:nvSpPr>
        <p:spPr>
          <a:xfrm>
            <a:off x="10511028" y="35369564"/>
            <a:ext cx="109728" cy="109728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1143000" y="35332988"/>
            <a:ext cx="9276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Park Service — دليل إعداد خطة الرحلة (Trip Plan) قبل السفر</a:t>
            </a:r>
            <a:endParaRPr lang="en-US" sz="1250" dirty="0"/>
          </a:p>
        </p:txBody>
      </p:sp>
      <p:sp>
        <p:nvSpPr>
          <p:cNvPr id="107" name="Text 104"/>
          <p:cNvSpPr txBox="1"/>
          <p:nvPr/>
        </p:nvSpPr>
        <p:spPr>
          <a:xfrm>
            <a:off x="1143000" y="35634740"/>
            <a:ext cx="9276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nps.gov/articles/gtgtripplan.htm</a:t>
            </a:r>
            <a:endParaRPr lang="en-US" sz="1100" dirty="0"/>
          </a:p>
        </p:txBody>
      </p:sp>
      <p:sp>
        <p:nvSpPr>
          <p:cNvPr id="108" name="Shape 105"/>
          <p:cNvSpPr/>
          <p:nvPr/>
        </p:nvSpPr>
        <p:spPr>
          <a:xfrm>
            <a:off x="20427696" y="35369564"/>
            <a:ext cx="109728" cy="109728"/>
          </a:xfrm>
          <a:prstGeom prst="ellipse">
            <a:avLst/>
          </a:prstGeom>
          <a:solidFill>
            <a:srgbClr val="12746F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11059668" y="35332988"/>
            <a:ext cx="9276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الهيئة العامة للهلال الأحمر السعودي — خدمات الطوارئ والإنقاذ</a:t>
            </a:r>
            <a:endParaRPr lang="en-US" sz="1250" dirty="0"/>
          </a:p>
        </p:txBody>
      </p:sp>
      <p:sp>
        <p:nvSpPr>
          <p:cNvPr id="110" name="Text 107"/>
          <p:cNvSpPr txBox="1"/>
          <p:nvPr/>
        </p:nvSpPr>
        <p:spPr>
          <a:xfrm>
            <a:off x="11059668" y="35634740"/>
            <a:ext cx="92765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274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srca.org.sa</a:t>
            </a:r>
            <a:endParaRPr lang="en-US" sz="1100" dirty="0"/>
          </a:p>
        </p:txBody>
      </p:sp>
      <p:sp>
        <p:nvSpPr>
          <p:cNvPr id="111" name="Shape 108"/>
          <p:cNvSpPr/>
          <p:nvPr/>
        </p:nvSpPr>
        <p:spPr>
          <a:xfrm>
            <a:off x="0" y="36530852"/>
            <a:ext cx="21387816" cy="45720"/>
          </a:xfrm>
          <a:prstGeom prst="rect">
            <a:avLst/>
          </a:prstGeom>
          <a:solidFill>
            <a:srgbClr val="E3E9F2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777240" y="36713732"/>
            <a:ext cx="16175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6B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أثر — مساعد ذكي للبحث عن المفقودين  ·  مسابقة SAIF  ·  تصميم تجريبي، لا يمثل نتائج فعلية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2026-09-16T17:22:21Z</dcterms:created>
  <dcterms:modified xsi:type="dcterms:W3CDTF">2026-09-16T17:22:21Z</dcterms:modified>
</cp:coreProperties>
</file>