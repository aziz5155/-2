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تخيّلوا معي: مسافر خرج في رحلة برية طويلة، ثم انقطعت أخباره. الشخص الذي يفترض أن يتابعه غالبًا لا يملك معلومات منظمة عن وجهته أو مساره أو موعد اطمئنانه. وهذا يعني وقتًا ثمينًا يضيع قبل أن يبدأ أي تحرك فعلي نحو المساعدة.
(الزمن المقترح للمشهد: نحو ٢٠ ثانية)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هنا يأتي دور أثر: مساعد ذكي يساعد المسافر على تسجيل خطة رحلته مسبقًا، ويحفظ آخر مواقعه أثناء توفر الاتصال. وإذا تجاوز موعد اطمئنانه، ينبّه الشخص الموثوق تلقائيًا، ويقترح عليه مناطق بحث محتملة مرتّبة حسب الأولوية باستخدام الذكاء الاصطناعي.
(الزمن المقترح للمشهد: نحو ٢٥ ثانية)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قبل الانطلاق، يسجّل المسافر رحلته في دقائق معدودة: الوجهة، موعد الاطمئنان المتوقع، بيانات المركبة والركاب، والشخص الموثوق الذي سيتابعه أثناء الرحلة. هذه هي الشاشة المتصوَّرة لواجهة المسافر.
(الزمن المقترح للمشهد: نحو ٢٥ ثانية)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أثناء الرحلة، يرسل التطبيق آخر المواقع تلقائيًا كلما توفّر اتصال بالإنترنت. فإذا تجاوز المسافر موعد اطمئنانه والمهلة المحددة دون تأكيد سلامته، يصل تنبيه فوري إلى الشخص المسؤول عنه — حتى لو كان هاتف المسافر نفسه خارج التغطية في تلك اللحظة.
(الزمن المقترح للمشهد: نحو ٢٥ ثانية)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مع التنبيه، تظهر بطاقة رحلة واضحة تجمع كل المعلومات المهمة في مكان واحد: الوجهة، آخر موقع، المركبة، وجهة الاتصال — جاهزة للمشاركة الفورية مع أي جهة تساعد في البحث، دون الحاجة لتجميع المعلومات من جديد تحت الضغط.
(الزمن المقترح للمشهد: نحو ٢٠ ثانية)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يستخدم أثر الذكاء الاصطناعي ليقترح مناطق بحث محتملة بناءً على آخر موقع معروف، وخطة الرحلة، والوقت المنقضي، وطبيعة الطرق والتضاريس. وعند وصول أي معلومة جديدة، تتحدّث هذه الاقتراحات وتُعاد ترتيب أولوياتها فورًا — كما ترون هنا في هذه المحاكاة المعلنة على بيانات تجريبية بالكامل.
(الزمن المقترح للمشهد: نحو ٣٠ ثانية)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القيمة التي نريد اختبارها هي: تقليل الوقت اللازم لتجهيز معلومات المسافر، والمساعدة في ترتيب أولويات البحث. المشروع اليوم في مرحلة التصميم، ولم نُجرِ اختبارات فعلية بعد. خطتنا للتحقق: استخدام رحلات تجريبية معروفة المسار، وإخفاء المواقع بعد نقطة انقطاع افتراضية، ثم مقارنة مناطق البحث المقترحة بالموقع الحقيقي. هذا هو أثر: معلومات أوضح، وبداية بحث أكثر تنظيمًا. شكرًا لكم.
(الزمن المقترح للمشهد: نحو ٣٥ ثانية)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ln/>
        </p:spPr>
      </p:sp>
      <p:sp>
        <p:nvSpPr>
          <p:cNvPr id="3" name="Shape 1"/>
          <p:cNvSpPr/>
          <p:nvPr/>
        </p:nvSpPr>
        <p:spPr>
          <a:xfrm>
            <a:off x="0" y="0"/>
            <a:ext cx="9144" cy="9144"/>
          </a:xfrm>
          <a:prstGeom prst="line">
            <a:avLst/>
          </a:prstGeom>
          <a:noFill/>
          <a:ln/>
        </p:spPr>
      </p:sp>
      <p:sp>
        <p:nvSpPr>
          <p:cNvPr id="4" name="Text 2"/>
          <p:cNvSpPr txBox="1"/>
          <p:nvPr/>
        </p:nvSpPr>
        <p:spPr>
          <a:xfrm>
            <a:off x="640080" y="411480"/>
            <a:ext cx="10911535" cy="457200"/>
          </a:xfrm>
          <a:prstGeom prst="rect">
            <a:avLst/>
          </a:prstGeom>
          <a:noFill/>
          <a:ln/>
        </p:spPr>
        <p:txBody>
          <a:bodyPr wrap="square" lIns="0" tIns="0" rIns="0" bIns="0" rtlCol="0" anchor="ctr"/>
          <a:lstStyle/>
          <a:p>
            <a:pPr rtl="1" algn="r" indent="0" marL="0">
              <a:buNone/>
            </a:pPr>
            <a:r>
              <a:rPr lang="en-US" sz="1500" b="1" dirty="0">
                <a:solidFill>
                  <a:srgbClr val="7FD6C9"/>
                </a:solidFill>
                <a:latin typeface="Calibri" pitchFamily="34" charset="0"/>
                <a:ea typeface="Calibri" pitchFamily="34" charset="-122"/>
                <a:cs typeface="Calibri" pitchFamily="34" charset="-120"/>
              </a:rPr>
              <a:t>المشكلة</a:t>
            </a:r>
            <a:endParaRPr lang="en-US" sz="1500" dirty="0"/>
          </a:p>
        </p:txBody>
      </p:sp>
      <p:sp>
        <p:nvSpPr>
          <p:cNvPr id="5" name="Text 3"/>
          <p:cNvSpPr txBox="1"/>
          <p:nvPr/>
        </p:nvSpPr>
        <p:spPr>
          <a:xfrm>
            <a:off x="822960" y="2286000"/>
            <a:ext cx="10545775" cy="1463040"/>
          </a:xfrm>
          <a:prstGeom prst="rect">
            <a:avLst/>
          </a:prstGeom>
          <a:noFill/>
          <a:ln/>
        </p:spPr>
        <p:txBody>
          <a:bodyPr wrap="square" lIns="0" tIns="0" rIns="0" bIns="0" rtlCol="0" anchor="ctr"/>
          <a:lstStyle/>
          <a:p>
            <a:pPr rtl="1" algn="ctr" indent="0" marL="0">
              <a:buNone/>
            </a:pPr>
            <a:r>
              <a:rPr lang="en-US" sz="4000" b="1" dirty="0">
                <a:solidFill>
                  <a:srgbClr val="FFFFFF"/>
                </a:solidFill>
                <a:latin typeface="Calibri" pitchFamily="34" charset="0"/>
                <a:ea typeface="Calibri" pitchFamily="34" charset="-122"/>
                <a:cs typeface="Calibri" pitchFamily="34" charset="-120"/>
              </a:rPr>
              <a:t>عندما تنقطع الأخبار في منتصف الرحلة…</a:t>
            </a:r>
            <a:endParaRPr lang="en-US" sz="4000" dirty="0"/>
          </a:p>
        </p:txBody>
      </p:sp>
      <p:sp>
        <p:nvSpPr>
          <p:cNvPr id="6" name="Text 4"/>
          <p:cNvSpPr txBox="1"/>
          <p:nvPr/>
        </p:nvSpPr>
        <p:spPr>
          <a:xfrm>
            <a:off x="1280160" y="3520440"/>
            <a:ext cx="9631375" cy="822960"/>
          </a:xfrm>
          <a:prstGeom prst="rect">
            <a:avLst/>
          </a:prstGeom>
          <a:noFill/>
          <a:ln/>
        </p:spPr>
        <p:txBody>
          <a:bodyPr wrap="square" lIns="0" tIns="0" rIns="0" bIns="0" rtlCol="0" anchor="ctr"/>
          <a:lstStyle/>
          <a:p>
            <a:pPr rtl="1" algn="ctr" indent="0" marL="0">
              <a:buNone/>
            </a:pPr>
            <a:r>
              <a:rPr lang="en-US" sz="1900" dirty="0">
                <a:solidFill>
                  <a:srgbClr val="B9C6DC"/>
                </a:solidFill>
                <a:latin typeface="Arial" pitchFamily="34" charset="0"/>
                <a:ea typeface="Arial" pitchFamily="34" charset="-122"/>
                <a:cs typeface="Arial" pitchFamily="34" charset="-120"/>
              </a:rPr>
              <a:t>لا معلومات منظّمة تعني وقتًا ثمينًا يضيع قبل أن يبدأ أي تحرك فعلي</a:t>
            </a:r>
            <a:endParaRPr lang="en-US" sz="1900" dirty="0"/>
          </a:p>
        </p:txBody>
      </p:sp>
      <p:sp>
        <p:nvSpPr>
          <p:cNvPr id="7" name="Shape 5"/>
          <p:cNvSpPr/>
          <p:nvPr/>
        </p:nvSpPr>
        <p:spPr>
          <a:xfrm>
            <a:off x="1249528" y="4663440"/>
            <a:ext cx="3017520" cy="777240"/>
          </a:xfrm>
          <a:prstGeom prst="roundRect">
            <a:avLst>
              <a:gd name="adj" fmla="val 11765"/>
            </a:avLst>
          </a:prstGeom>
          <a:solidFill>
            <a:srgbClr val="132F52"/>
          </a:solidFill>
          <a:ln w="12700">
            <a:solidFill>
              <a:srgbClr val="24406B"/>
            </a:solidFill>
            <a:prstDash val="solid"/>
          </a:ln>
        </p:spPr>
      </p:sp>
      <p:sp>
        <p:nvSpPr>
          <p:cNvPr id="8" name="Text 6"/>
          <p:cNvSpPr txBox="1"/>
          <p:nvPr/>
        </p:nvSpPr>
        <p:spPr>
          <a:xfrm>
            <a:off x="1386688" y="4663440"/>
            <a:ext cx="2743200" cy="777240"/>
          </a:xfrm>
          <a:prstGeom prst="rect">
            <a:avLst/>
          </a:prstGeom>
          <a:noFill/>
          <a:ln/>
        </p:spPr>
        <p:txBody>
          <a:bodyPr wrap="square" lIns="0" tIns="0" rIns="0" bIns="0" rtlCol="0" anchor="ctr"/>
          <a:lstStyle/>
          <a:p>
            <a:pPr rtl="1" algn="ctr" indent="0" marL="0">
              <a:buNone/>
            </a:pPr>
            <a:r>
              <a:rPr lang="en-US" sz="1350" b="1" dirty="0">
                <a:solidFill>
                  <a:srgbClr val="DCE6F5"/>
                </a:solidFill>
                <a:latin typeface="Arial" pitchFamily="34" charset="0"/>
                <a:ea typeface="Arial" pitchFamily="34" charset="-122"/>
                <a:cs typeface="Arial" pitchFamily="34" charset="-120"/>
              </a:rPr>
              <a:t>مسافر في رحلة برية طويلة</a:t>
            </a:r>
            <a:endParaRPr lang="en-US" sz="1350" dirty="0"/>
          </a:p>
        </p:txBody>
      </p:sp>
      <p:sp>
        <p:nvSpPr>
          <p:cNvPr id="9" name="Shape 7"/>
          <p:cNvSpPr/>
          <p:nvPr/>
        </p:nvSpPr>
        <p:spPr>
          <a:xfrm>
            <a:off x="4587088" y="4663440"/>
            <a:ext cx="3017520" cy="777240"/>
          </a:xfrm>
          <a:prstGeom prst="roundRect">
            <a:avLst>
              <a:gd name="adj" fmla="val 11765"/>
            </a:avLst>
          </a:prstGeom>
          <a:solidFill>
            <a:srgbClr val="132F52"/>
          </a:solidFill>
          <a:ln w="12700">
            <a:solidFill>
              <a:srgbClr val="24406B"/>
            </a:solidFill>
            <a:prstDash val="solid"/>
          </a:ln>
        </p:spPr>
      </p:sp>
      <p:sp>
        <p:nvSpPr>
          <p:cNvPr id="10" name="Text 8"/>
          <p:cNvSpPr txBox="1"/>
          <p:nvPr/>
        </p:nvSpPr>
        <p:spPr>
          <a:xfrm>
            <a:off x="4724248" y="4663440"/>
            <a:ext cx="2743200" cy="777240"/>
          </a:xfrm>
          <a:prstGeom prst="rect">
            <a:avLst/>
          </a:prstGeom>
          <a:noFill/>
          <a:ln/>
        </p:spPr>
        <p:txBody>
          <a:bodyPr wrap="square" lIns="0" tIns="0" rIns="0" bIns="0" rtlCol="0" anchor="ctr"/>
          <a:lstStyle/>
          <a:p>
            <a:pPr rtl="1" algn="ctr" indent="0" marL="0">
              <a:buNone/>
            </a:pPr>
            <a:r>
              <a:rPr lang="en-US" sz="1350" b="1" dirty="0">
                <a:solidFill>
                  <a:srgbClr val="DCE6F5"/>
                </a:solidFill>
                <a:latin typeface="Arial" pitchFamily="34" charset="0"/>
                <a:ea typeface="Arial" pitchFamily="34" charset="-122"/>
                <a:cs typeface="Arial" pitchFamily="34" charset="-120"/>
              </a:rPr>
              <a:t>بلا اتصال بعد نقطة معيّنة</a:t>
            </a:r>
            <a:endParaRPr lang="en-US" sz="1350" dirty="0"/>
          </a:p>
        </p:txBody>
      </p:sp>
      <p:sp>
        <p:nvSpPr>
          <p:cNvPr id="11" name="Shape 9"/>
          <p:cNvSpPr/>
          <p:nvPr/>
        </p:nvSpPr>
        <p:spPr>
          <a:xfrm>
            <a:off x="7924648" y="4663440"/>
            <a:ext cx="3017520" cy="777240"/>
          </a:xfrm>
          <a:prstGeom prst="roundRect">
            <a:avLst>
              <a:gd name="adj" fmla="val 11765"/>
            </a:avLst>
          </a:prstGeom>
          <a:solidFill>
            <a:srgbClr val="132F52"/>
          </a:solidFill>
          <a:ln w="12700">
            <a:solidFill>
              <a:srgbClr val="24406B"/>
            </a:solidFill>
            <a:prstDash val="solid"/>
          </a:ln>
        </p:spPr>
      </p:sp>
      <p:sp>
        <p:nvSpPr>
          <p:cNvPr id="12" name="Text 10"/>
          <p:cNvSpPr txBox="1"/>
          <p:nvPr/>
        </p:nvSpPr>
        <p:spPr>
          <a:xfrm>
            <a:off x="8061808" y="4663440"/>
            <a:ext cx="2743200" cy="777240"/>
          </a:xfrm>
          <a:prstGeom prst="rect">
            <a:avLst/>
          </a:prstGeom>
          <a:noFill/>
          <a:ln/>
        </p:spPr>
        <p:txBody>
          <a:bodyPr wrap="square" lIns="0" tIns="0" rIns="0" bIns="0" rtlCol="0" anchor="ctr"/>
          <a:lstStyle/>
          <a:p>
            <a:pPr rtl="1" algn="ctr" indent="0" marL="0">
              <a:buNone/>
            </a:pPr>
            <a:r>
              <a:rPr lang="en-US" sz="1350" b="1" dirty="0">
                <a:solidFill>
                  <a:srgbClr val="DCE6F5"/>
                </a:solidFill>
                <a:latin typeface="Arial" pitchFamily="34" charset="0"/>
                <a:ea typeface="Arial" pitchFamily="34" charset="-122"/>
                <a:cs typeface="Arial" pitchFamily="34" charset="-120"/>
              </a:rPr>
              <a:t>متابع بلا معلومات كافية</a:t>
            </a:r>
            <a:endParaRPr lang="en-US" sz="1350" dirty="0"/>
          </a:p>
        </p:txBody>
      </p:sp>
      <p:sp>
        <p:nvSpPr>
          <p:cNvPr id="13" name="Text 11"/>
          <p:cNvSpPr txBox="1"/>
          <p:nvPr/>
        </p:nvSpPr>
        <p:spPr>
          <a:xfrm>
            <a:off x="457200" y="6355080"/>
            <a:ext cx="1097280" cy="320040"/>
          </a:xfrm>
          <a:prstGeom prst="rect">
            <a:avLst/>
          </a:prstGeom>
          <a:noFill/>
          <a:ln/>
        </p:spPr>
        <p:txBody>
          <a:bodyPr wrap="square" lIns="0" tIns="0" rIns="0" bIns="0" rtlCol="0" anchor="ctr"/>
          <a:lstStyle/>
          <a:p>
            <a:pPr algn="l" indent="0" marL="0">
              <a:buNone/>
            </a:pPr>
            <a:r>
              <a:rPr lang="en-US" sz="1050" dirty="0">
                <a:solidFill>
                  <a:srgbClr val="8AA0C2"/>
                </a:solidFill>
                <a:latin typeface="Arial" pitchFamily="34" charset="0"/>
                <a:ea typeface="Arial" pitchFamily="34" charset="-122"/>
                <a:cs typeface="Arial" pitchFamily="34" charset="-120"/>
              </a:rPr>
              <a:t>1 / 7</a:t>
            </a:r>
            <a:endParaRPr lang="en-US" sz="1050" dirty="0"/>
          </a:p>
        </p:txBody>
      </p:sp>
      <p:sp>
        <p:nvSpPr>
          <p:cNvPr id="14" name="Text 12"/>
          <p:cNvSpPr txBox="1"/>
          <p:nvPr/>
        </p:nvSpPr>
        <p:spPr>
          <a:xfrm>
            <a:off x="7162495" y="6355080"/>
            <a:ext cx="4572000" cy="320040"/>
          </a:xfrm>
          <a:prstGeom prst="rect">
            <a:avLst/>
          </a:prstGeom>
          <a:noFill/>
          <a:ln/>
        </p:spPr>
        <p:txBody>
          <a:bodyPr wrap="square" lIns="0" tIns="0" rIns="0" bIns="0" rtlCol="0" anchor="ctr"/>
          <a:lstStyle/>
          <a:p>
            <a:pPr rtl="1" algn="r" indent="0" marL="0">
              <a:buNone/>
            </a:pPr>
            <a:r>
              <a:rPr lang="en-US" sz="1050" dirty="0">
                <a:solidFill>
                  <a:srgbClr val="8AA0C2"/>
                </a:solidFill>
                <a:latin typeface="Arial" pitchFamily="34" charset="0"/>
                <a:ea typeface="Arial" pitchFamily="34" charset="-122"/>
                <a:cs typeface="Arial" pitchFamily="34" charset="-120"/>
              </a:rPr>
              <a:t>أثر — مساعد ذكي للبحث عن المفقودين</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640080" y="411480"/>
            <a:ext cx="10911535" cy="457200"/>
          </a:xfrm>
          <a:prstGeom prst="rect">
            <a:avLst/>
          </a:prstGeom>
          <a:noFill/>
          <a:ln/>
        </p:spPr>
        <p:txBody>
          <a:bodyPr wrap="square" lIns="0" tIns="0" rIns="0" bIns="0" rtlCol="0" anchor="ctr"/>
          <a:lstStyle/>
          <a:p>
            <a:pPr rtl="1" algn="r" indent="0" marL="0">
              <a:buNone/>
            </a:pPr>
            <a:r>
              <a:rPr lang="en-US" sz="1500" b="1" dirty="0">
                <a:solidFill>
                  <a:srgbClr val="12746F"/>
                </a:solidFill>
                <a:latin typeface="Calibri" pitchFamily="34" charset="0"/>
                <a:ea typeface="Calibri" pitchFamily="34" charset="-122"/>
                <a:cs typeface="Calibri" pitchFamily="34" charset="-120"/>
              </a:rPr>
              <a:t>فكرة الحل</a:t>
            </a:r>
            <a:endParaRPr lang="en-US" sz="1500" dirty="0"/>
          </a:p>
        </p:txBody>
      </p:sp>
      <p:sp>
        <p:nvSpPr>
          <p:cNvPr id="3" name="Text 1"/>
          <p:cNvSpPr txBox="1"/>
          <p:nvPr/>
        </p:nvSpPr>
        <p:spPr>
          <a:xfrm>
            <a:off x="640080" y="868680"/>
            <a:ext cx="10911535" cy="731520"/>
          </a:xfrm>
          <a:prstGeom prst="rect">
            <a:avLst/>
          </a:prstGeom>
          <a:noFill/>
          <a:ln/>
        </p:spPr>
        <p:txBody>
          <a:bodyPr wrap="square" lIns="0" tIns="0" rIns="0" bIns="0" rtlCol="0" anchor="ctr"/>
          <a:lstStyle/>
          <a:p>
            <a:pPr rtl="1" algn="r" indent="0" marL="0">
              <a:buNone/>
            </a:pPr>
            <a:r>
              <a:rPr lang="en-US" sz="3000" b="1" dirty="0">
                <a:solidFill>
                  <a:srgbClr val="0B1F3A"/>
                </a:solidFill>
                <a:latin typeface="Calibri" pitchFamily="34" charset="0"/>
                <a:ea typeface="Calibri" pitchFamily="34" charset="-122"/>
                <a:cs typeface="Calibri" pitchFamily="34" charset="-120"/>
              </a:rPr>
              <a:t>أثر: تنظيم المعلومات قبل الحاجة إليها</a:t>
            </a:r>
            <a:endParaRPr lang="en-US" sz="3000" dirty="0"/>
          </a:p>
        </p:txBody>
      </p:sp>
      <p:sp>
        <p:nvSpPr>
          <p:cNvPr id="4" name="Text 2"/>
          <p:cNvSpPr txBox="1"/>
          <p:nvPr/>
        </p:nvSpPr>
        <p:spPr>
          <a:xfrm>
            <a:off x="640080" y="1600200"/>
            <a:ext cx="10911535" cy="457200"/>
          </a:xfrm>
          <a:prstGeom prst="rect">
            <a:avLst/>
          </a:prstGeom>
          <a:noFill/>
          <a:ln/>
        </p:spPr>
        <p:txBody>
          <a:bodyPr wrap="square" lIns="0" tIns="0" rIns="0" bIns="0" rtlCol="0" anchor="t"/>
          <a:lstStyle/>
          <a:p>
            <a:pPr rtl="1" algn="r" indent="0" marL="0">
              <a:buNone/>
            </a:pPr>
            <a:r>
              <a:rPr lang="en-US" sz="1500" dirty="0">
                <a:solidFill>
                  <a:srgbClr val="5A6B87"/>
                </a:solidFill>
                <a:latin typeface="Arial" pitchFamily="34" charset="0"/>
                <a:ea typeface="Arial" pitchFamily="34" charset="-122"/>
                <a:cs typeface="Arial" pitchFamily="34" charset="-120"/>
              </a:rPr>
              <a:t>مساعد ذكي يرافق المسافر قبل الرحلة وأثناءها، ويساعد المتابع عند الحاجة</a:t>
            </a:r>
            <a:endParaRPr lang="en-US" sz="1500" dirty="0"/>
          </a:p>
        </p:txBody>
      </p:sp>
      <p:sp>
        <p:nvSpPr>
          <p:cNvPr id="5" name="Shape 3"/>
          <p:cNvSpPr/>
          <p:nvPr/>
        </p:nvSpPr>
        <p:spPr>
          <a:xfrm>
            <a:off x="632308" y="2377440"/>
            <a:ext cx="10927080" cy="2880360"/>
          </a:xfrm>
          <a:prstGeom prst="roundRect">
            <a:avLst>
              <a:gd name="adj" fmla="val 3810"/>
            </a:avLst>
          </a:prstGeom>
          <a:solidFill>
            <a:srgbClr val="FFFFFF"/>
          </a:solidFill>
          <a:ln w="12700">
            <a:solidFill>
              <a:srgbClr val="E3E9F2"/>
            </a:solidFill>
            <a:prstDash val="solid"/>
          </a:ln>
          <a:effectLst>
            <a:outerShdw sx="100000" sy="100000" kx="0" ky="0" algn="bl" rotWithShape="0" blurRad="101600" dist="38100" dir="5400000">
              <a:srgbClr val="0B1F3A">
                <a:alpha val="12000"/>
              </a:srgbClr>
            </a:outerShdw>
          </a:effectLst>
        </p:spPr>
      </p:sp>
      <p:sp>
        <p:nvSpPr>
          <p:cNvPr id="6" name="Shape 4"/>
          <p:cNvSpPr/>
          <p:nvPr/>
        </p:nvSpPr>
        <p:spPr>
          <a:xfrm>
            <a:off x="9867748" y="2903220"/>
            <a:ext cx="868680" cy="868680"/>
          </a:xfrm>
          <a:prstGeom prst="ellipse">
            <a:avLst/>
          </a:prstGeom>
          <a:solidFill>
            <a:srgbClr val="E9F7F5"/>
          </a:solidFill>
          <a:ln/>
        </p:spPr>
      </p:sp>
      <p:sp>
        <p:nvSpPr>
          <p:cNvPr id="7" name="Text 5"/>
          <p:cNvSpPr txBox="1"/>
          <p:nvPr/>
        </p:nvSpPr>
        <p:spPr>
          <a:xfrm>
            <a:off x="9867748" y="2903220"/>
            <a:ext cx="868680" cy="868680"/>
          </a:xfrm>
          <a:prstGeom prst="rect">
            <a:avLst/>
          </a:prstGeom>
          <a:noFill/>
          <a:ln/>
        </p:spPr>
        <p:txBody>
          <a:bodyPr wrap="square" lIns="0" tIns="0" rIns="0" bIns="0" rtlCol="0" anchor="ctr"/>
          <a:lstStyle/>
          <a:p>
            <a:pPr algn="ctr" indent="0" marL="0">
              <a:buNone/>
            </a:pPr>
            <a:r>
              <a:rPr lang="en-US" sz="2600" b="1" dirty="0">
                <a:solidFill>
                  <a:srgbClr val="12746F"/>
                </a:solidFill>
                <a:latin typeface="Calibri" pitchFamily="34" charset="0"/>
                <a:ea typeface="Calibri" pitchFamily="34" charset="-122"/>
                <a:cs typeface="Calibri" pitchFamily="34" charset="-120"/>
              </a:rPr>
              <a:t>١</a:t>
            </a:r>
            <a:endParaRPr lang="en-US" sz="2600" dirty="0"/>
          </a:p>
        </p:txBody>
      </p:sp>
      <p:sp>
        <p:nvSpPr>
          <p:cNvPr id="8" name="Text 6"/>
          <p:cNvSpPr txBox="1"/>
          <p:nvPr/>
        </p:nvSpPr>
        <p:spPr>
          <a:xfrm>
            <a:off x="9364828" y="3931920"/>
            <a:ext cx="1874520" cy="457200"/>
          </a:xfrm>
          <a:prstGeom prst="rect">
            <a:avLst/>
          </a:prstGeom>
          <a:noFill/>
          <a:ln/>
        </p:spPr>
        <p:txBody>
          <a:bodyPr wrap="square" lIns="0" tIns="0" rIns="0" bIns="0" rtlCol="0" anchor="ctr"/>
          <a:lstStyle/>
          <a:p>
            <a:pPr rtl="1" algn="ctr" indent="0" marL="0">
              <a:buNone/>
            </a:pPr>
            <a:r>
              <a:rPr lang="en-US" sz="1400" b="1" dirty="0">
                <a:solidFill>
                  <a:srgbClr val="0B1F3A"/>
                </a:solidFill>
                <a:latin typeface="Calibri" pitchFamily="34" charset="0"/>
                <a:ea typeface="Calibri" pitchFamily="34" charset="-122"/>
                <a:cs typeface="Calibri" pitchFamily="34" charset="-120"/>
              </a:rPr>
              <a:t>تسجيل الرحلة</a:t>
            </a:r>
            <a:endParaRPr lang="en-US" sz="1400" dirty="0"/>
          </a:p>
        </p:txBody>
      </p:sp>
      <p:sp>
        <p:nvSpPr>
          <p:cNvPr id="9" name="Text 7"/>
          <p:cNvSpPr txBox="1"/>
          <p:nvPr/>
        </p:nvSpPr>
        <p:spPr>
          <a:xfrm>
            <a:off x="9136228" y="3154680"/>
            <a:ext cx="182880" cy="365760"/>
          </a:xfrm>
          <a:prstGeom prst="rect">
            <a:avLst/>
          </a:prstGeom>
          <a:noFill/>
          <a:ln/>
        </p:spPr>
        <p:txBody>
          <a:bodyPr wrap="square" lIns="0" tIns="0" rIns="0" bIns="0" rtlCol="0" anchor="ctr"/>
          <a:lstStyle/>
          <a:p>
            <a:pPr algn="ctr" indent="0" marL="0">
              <a:buNone/>
            </a:pPr>
            <a:r>
              <a:rPr lang="en-US" sz="2000" b="1" dirty="0">
                <a:solidFill>
                  <a:srgbClr val="9FB0CC"/>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7764628" y="2903220"/>
            <a:ext cx="868680" cy="868680"/>
          </a:xfrm>
          <a:prstGeom prst="ellipse">
            <a:avLst/>
          </a:prstGeom>
          <a:solidFill>
            <a:srgbClr val="E9F7F5"/>
          </a:solidFill>
          <a:ln/>
        </p:spPr>
      </p:sp>
      <p:sp>
        <p:nvSpPr>
          <p:cNvPr id="11" name="Text 9"/>
          <p:cNvSpPr txBox="1"/>
          <p:nvPr/>
        </p:nvSpPr>
        <p:spPr>
          <a:xfrm>
            <a:off x="7764628" y="2903220"/>
            <a:ext cx="868680" cy="868680"/>
          </a:xfrm>
          <a:prstGeom prst="rect">
            <a:avLst/>
          </a:prstGeom>
          <a:noFill/>
          <a:ln/>
        </p:spPr>
        <p:txBody>
          <a:bodyPr wrap="square" lIns="0" tIns="0" rIns="0" bIns="0" rtlCol="0" anchor="ctr"/>
          <a:lstStyle/>
          <a:p>
            <a:pPr algn="ctr" indent="0" marL="0">
              <a:buNone/>
            </a:pPr>
            <a:r>
              <a:rPr lang="en-US" sz="2600" b="1" dirty="0">
                <a:solidFill>
                  <a:srgbClr val="12746F"/>
                </a:solidFill>
                <a:latin typeface="Calibri" pitchFamily="34" charset="0"/>
                <a:ea typeface="Calibri" pitchFamily="34" charset="-122"/>
                <a:cs typeface="Calibri" pitchFamily="34" charset="-120"/>
              </a:rPr>
              <a:t>٢</a:t>
            </a:r>
            <a:endParaRPr lang="en-US" sz="2600" dirty="0"/>
          </a:p>
        </p:txBody>
      </p:sp>
      <p:sp>
        <p:nvSpPr>
          <p:cNvPr id="12" name="Text 10"/>
          <p:cNvSpPr txBox="1"/>
          <p:nvPr/>
        </p:nvSpPr>
        <p:spPr>
          <a:xfrm>
            <a:off x="7261708" y="3931920"/>
            <a:ext cx="1874520" cy="457200"/>
          </a:xfrm>
          <a:prstGeom prst="rect">
            <a:avLst/>
          </a:prstGeom>
          <a:noFill/>
          <a:ln/>
        </p:spPr>
        <p:txBody>
          <a:bodyPr wrap="square" lIns="0" tIns="0" rIns="0" bIns="0" rtlCol="0" anchor="ctr"/>
          <a:lstStyle/>
          <a:p>
            <a:pPr rtl="1" algn="ctr" indent="0" marL="0">
              <a:buNone/>
            </a:pPr>
            <a:r>
              <a:rPr lang="en-US" sz="1400" b="1" dirty="0">
                <a:solidFill>
                  <a:srgbClr val="0B1F3A"/>
                </a:solidFill>
                <a:latin typeface="Calibri" pitchFamily="34" charset="0"/>
                <a:ea typeface="Calibri" pitchFamily="34" charset="-122"/>
                <a:cs typeface="Calibri" pitchFamily="34" charset="-120"/>
              </a:rPr>
              <a:t>حفظ المواقع</a:t>
            </a:r>
            <a:endParaRPr lang="en-US" sz="1400" dirty="0"/>
          </a:p>
        </p:txBody>
      </p:sp>
      <p:sp>
        <p:nvSpPr>
          <p:cNvPr id="13" name="Text 11"/>
          <p:cNvSpPr txBox="1"/>
          <p:nvPr/>
        </p:nvSpPr>
        <p:spPr>
          <a:xfrm>
            <a:off x="7033108" y="3154680"/>
            <a:ext cx="182880" cy="365760"/>
          </a:xfrm>
          <a:prstGeom prst="rect">
            <a:avLst/>
          </a:prstGeom>
          <a:noFill/>
          <a:ln/>
        </p:spPr>
        <p:txBody>
          <a:bodyPr wrap="square" lIns="0" tIns="0" rIns="0" bIns="0" rtlCol="0" anchor="ctr"/>
          <a:lstStyle/>
          <a:p>
            <a:pPr algn="ctr" indent="0" marL="0">
              <a:buNone/>
            </a:pPr>
            <a:r>
              <a:rPr lang="en-US" sz="2000" b="1" dirty="0">
                <a:solidFill>
                  <a:srgbClr val="9FB0CC"/>
                </a:solidFill>
                <a:latin typeface="Calibri" pitchFamily="34" charset="0"/>
                <a:ea typeface="Calibri" pitchFamily="34" charset="-122"/>
                <a:cs typeface="Calibri" pitchFamily="34" charset="-120"/>
              </a:rPr>
              <a:t>‹</a:t>
            </a:r>
            <a:endParaRPr lang="en-US" sz="2000" dirty="0"/>
          </a:p>
        </p:txBody>
      </p:sp>
      <p:sp>
        <p:nvSpPr>
          <p:cNvPr id="14" name="Shape 12"/>
          <p:cNvSpPr/>
          <p:nvPr/>
        </p:nvSpPr>
        <p:spPr>
          <a:xfrm>
            <a:off x="5661508" y="2903220"/>
            <a:ext cx="868680" cy="868680"/>
          </a:xfrm>
          <a:prstGeom prst="ellipse">
            <a:avLst/>
          </a:prstGeom>
          <a:solidFill>
            <a:srgbClr val="E9F7F5"/>
          </a:solidFill>
          <a:ln/>
        </p:spPr>
      </p:sp>
      <p:sp>
        <p:nvSpPr>
          <p:cNvPr id="15" name="Text 13"/>
          <p:cNvSpPr txBox="1"/>
          <p:nvPr/>
        </p:nvSpPr>
        <p:spPr>
          <a:xfrm>
            <a:off x="5661508" y="2903220"/>
            <a:ext cx="868680" cy="868680"/>
          </a:xfrm>
          <a:prstGeom prst="rect">
            <a:avLst/>
          </a:prstGeom>
          <a:noFill/>
          <a:ln/>
        </p:spPr>
        <p:txBody>
          <a:bodyPr wrap="square" lIns="0" tIns="0" rIns="0" bIns="0" rtlCol="0" anchor="ctr"/>
          <a:lstStyle/>
          <a:p>
            <a:pPr algn="ctr" indent="0" marL="0">
              <a:buNone/>
            </a:pPr>
            <a:r>
              <a:rPr lang="en-US" sz="2600" b="1" dirty="0">
                <a:solidFill>
                  <a:srgbClr val="12746F"/>
                </a:solidFill>
                <a:latin typeface="Calibri" pitchFamily="34" charset="0"/>
                <a:ea typeface="Calibri" pitchFamily="34" charset="-122"/>
                <a:cs typeface="Calibri" pitchFamily="34" charset="-120"/>
              </a:rPr>
              <a:t>٣</a:t>
            </a:r>
            <a:endParaRPr lang="en-US" sz="2600" dirty="0"/>
          </a:p>
        </p:txBody>
      </p:sp>
      <p:sp>
        <p:nvSpPr>
          <p:cNvPr id="16" name="Text 14"/>
          <p:cNvSpPr txBox="1"/>
          <p:nvPr/>
        </p:nvSpPr>
        <p:spPr>
          <a:xfrm>
            <a:off x="5158588" y="3931920"/>
            <a:ext cx="1874520" cy="457200"/>
          </a:xfrm>
          <a:prstGeom prst="rect">
            <a:avLst/>
          </a:prstGeom>
          <a:noFill/>
          <a:ln/>
        </p:spPr>
        <p:txBody>
          <a:bodyPr wrap="square" lIns="0" tIns="0" rIns="0" bIns="0" rtlCol="0" anchor="ctr"/>
          <a:lstStyle/>
          <a:p>
            <a:pPr rtl="1" algn="ctr" indent="0" marL="0">
              <a:buNone/>
            </a:pPr>
            <a:r>
              <a:rPr lang="en-US" sz="1400" b="1" dirty="0">
                <a:solidFill>
                  <a:srgbClr val="0B1F3A"/>
                </a:solidFill>
                <a:latin typeface="Calibri" pitchFamily="34" charset="0"/>
                <a:ea typeface="Calibri" pitchFamily="34" charset="-122"/>
                <a:cs typeface="Calibri" pitchFamily="34" charset="-120"/>
              </a:rPr>
              <a:t>تجاوز الموعد</a:t>
            </a:r>
            <a:endParaRPr lang="en-US" sz="1400" dirty="0"/>
          </a:p>
        </p:txBody>
      </p:sp>
      <p:sp>
        <p:nvSpPr>
          <p:cNvPr id="17" name="Text 15"/>
          <p:cNvSpPr txBox="1"/>
          <p:nvPr/>
        </p:nvSpPr>
        <p:spPr>
          <a:xfrm>
            <a:off x="4929988" y="3154680"/>
            <a:ext cx="182880" cy="365760"/>
          </a:xfrm>
          <a:prstGeom prst="rect">
            <a:avLst/>
          </a:prstGeom>
          <a:noFill/>
          <a:ln/>
        </p:spPr>
        <p:txBody>
          <a:bodyPr wrap="square" lIns="0" tIns="0" rIns="0" bIns="0" rtlCol="0" anchor="ctr"/>
          <a:lstStyle/>
          <a:p>
            <a:pPr algn="ctr" indent="0" marL="0">
              <a:buNone/>
            </a:pPr>
            <a:r>
              <a:rPr lang="en-US" sz="2000" b="1" dirty="0">
                <a:solidFill>
                  <a:srgbClr val="9FB0CC"/>
                </a:solidFill>
                <a:latin typeface="Calibri" pitchFamily="34" charset="0"/>
                <a:ea typeface="Calibri" pitchFamily="34" charset="-122"/>
                <a:cs typeface="Calibri" pitchFamily="34" charset="-120"/>
              </a:rPr>
              <a:t>‹</a:t>
            </a:r>
            <a:endParaRPr lang="en-US" sz="2000" dirty="0"/>
          </a:p>
        </p:txBody>
      </p:sp>
      <p:sp>
        <p:nvSpPr>
          <p:cNvPr id="18" name="Shape 16"/>
          <p:cNvSpPr/>
          <p:nvPr/>
        </p:nvSpPr>
        <p:spPr>
          <a:xfrm>
            <a:off x="3558388" y="2903220"/>
            <a:ext cx="868680" cy="868680"/>
          </a:xfrm>
          <a:prstGeom prst="ellipse">
            <a:avLst/>
          </a:prstGeom>
          <a:solidFill>
            <a:srgbClr val="FDECE8"/>
          </a:solidFill>
          <a:ln/>
        </p:spPr>
      </p:sp>
      <p:sp>
        <p:nvSpPr>
          <p:cNvPr id="19" name="Text 17"/>
          <p:cNvSpPr txBox="1"/>
          <p:nvPr/>
        </p:nvSpPr>
        <p:spPr>
          <a:xfrm>
            <a:off x="3558388" y="2903220"/>
            <a:ext cx="868680" cy="868680"/>
          </a:xfrm>
          <a:prstGeom prst="rect">
            <a:avLst/>
          </a:prstGeom>
          <a:noFill/>
          <a:ln/>
        </p:spPr>
        <p:txBody>
          <a:bodyPr wrap="square" lIns="0" tIns="0" rIns="0" bIns="0" rtlCol="0" anchor="ctr"/>
          <a:lstStyle/>
          <a:p>
            <a:pPr algn="ctr" indent="0" marL="0">
              <a:buNone/>
            </a:pPr>
            <a:r>
              <a:rPr lang="en-US" sz="2600" b="1" dirty="0">
                <a:solidFill>
                  <a:srgbClr val="E8613C"/>
                </a:solidFill>
                <a:latin typeface="Calibri" pitchFamily="34" charset="0"/>
                <a:ea typeface="Calibri" pitchFamily="34" charset="-122"/>
                <a:cs typeface="Calibri" pitchFamily="34" charset="-120"/>
              </a:rPr>
              <a:t>٤</a:t>
            </a:r>
            <a:endParaRPr lang="en-US" sz="2600" dirty="0"/>
          </a:p>
        </p:txBody>
      </p:sp>
      <p:sp>
        <p:nvSpPr>
          <p:cNvPr id="20" name="Text 18"/>
          <p:cNvSpPr txBox="1"/>
          <p:nvPr/>
        </p:nvSpPr>
        <p:spPr>
          <a:xfrm>
            <a:off x="3055468" y="3931920"/>
            <a:ext cx="1874520" cy="457200"/>
          </a:xfrm>
          <a:prstGeom prst="rect">
            <a:avLst/>
          </a:prstGeom>
          <a:noFill/>
          <a:ln/>
        </p:spPr>
        <p:txBody>
          <a:bodyPr wrap="square" lIns="0" tIns="0" rIns="0" bIns="0" rtlCol="0" anchor="ctr"/>
          <a:lstStyle/>
          <a:p>
            <a:pPr rtl="1" algn="ctr" indent="0" marL="0">
              <a:buNone/>
            </a:pPr>
            <a:r>
              <a:rPr lang="en-US" sz="1400" b="1" dirty="0">
                <a:solidFill>
                  <a:srgbClr val="0B1F3A"/>
                </a:solidFill>
                <a:latin typeface="Calibri" pitchFamily="34" charset="0"/>
                <a:ea typeface="Calibri" pitchFamily="34" charset="-122"/>
                <a:cs typeface="Calibri" pitchFamily="34" charset="-120"/>
              </a:rPr>
              <a:t>تنبيه فوري</a:t>
            </a:r>
            <a:endParaRPr lang="en-US" sz="1400" dirty="0"/>
          </a:p>
        </p:txBody>
      </p:sp>
      <p:sp>
        <p:nvSpPr>
          <p:cNvPr id="21" name="Text 19"/>
          <p:cNvSpPr txBox="1"/>
          <p:nvPr/>
        </p:nvSpPr>
        <p:spPr>
          <a:xfrm>
            <a:off x="2826868" y="3154680"/>
            <a:ext cx="182880" cy="365760"/>
          </a:xfrm>
          <a:prstGeom prst="rect">
            <a:avLst/>
          </a:prstGeom>
          <a:noFill/>
          <a:ln/>
        </p:spPr>
        <p:txBody>
          <a:bodyPr wrap="square" lIns="0" tIns="0" rIns="0" bIns="0" rtlCol="0" anchor="ctr"/>
          <a:lstStyle/>
          <a:p>
            <a:pPr algn="ctr" indent="0" marL="0">
              <a:buNone/>
            </a:pPr>
            <a:r>
              <a:rPr lang="en-US" sz="2000" b="1" dirty="0">
                <a:solidFill>
                  <a:srgbClr val="9FB0CC"/>
                </a:solidFill>
                <a:latin typeface="Calibri" pitchFamily="34" charset="0"/>
                <a:ea typeface="Calibri" pitchFamily="34" charset="-122"/>
                <a:cs typeface="Calibri" pitchFamily="34" charset="-120"/>
              </a:rPr>
              <a:t>‹</a:t>
            </a:r>
            <a:endParaRPr lang="en-US" sz="2000" dirty="0"/>
          </a:p>
        </p:txBody>
      </p:sp>
      <p:sp>
        <p:nvSpPr>
          <p:cNvPr id="22" name="Shape 20"/>
          <p:cNvSpPr/>
          <p:nvPr/>
        </p:nvSpPr>
        <p:spPr>
          <a:xfrm>
            <a:off x="1455268" y="2903220"/>
            <a:ext cx="868680" cy="868680"/>
          </a:xfrm>
          <a:prstGeom prst="ellipse">
            <a:avLst/>
          </a:prstGeom>
          <a:solidFill>
            <a:srgbClr val="E9F7F5"/>
          </a:solidFill>
          <a:ln/>
        </p:spPr>
      </p:sp>
      <p:sp>
        <p:nvSpPr>
          <p:cNvPr id="23" name="Text 21"/>
          <p:cNvSpPr txBox="1"/>
          <p:nvPr/>
        </p:nvSpPr>
        <p:spPr>
          <a:xfrm>
            <a:off x="1455268" y="2903220"/>
            <a:ext cx="868680" cy="868680"/>
          </a:xfrm>
          <a:prstGeom prst="rect">
            <a:avLst/>
          </a:prstGeom>
          <a:noFill/>
          <a:ln/>
        </p:spPr>
        <p:txBody>
          <a:bodyPr wrap="square" lIns="0" tIns="0" rIns="0" bIns="0" rtlCol="0" anchor="ctr"/>
          <a:lstStyle/>
          <a:p>
            <a:pPr algn="ctr" indent="0" marL="0">
              <a:buNone/>
            </a:pPr>
            <a:r>
              <a:rPr lang="en-US" sz="2600" b="1" dirty="0">
                <a:solidFill>
                  <a:srgbClr val="12746F"/>
                </a:solidFill>
                <a:latin typeface="Calibri" pitchFamily="34" charset="0"/>
                <a:ea typeface="Calibri" pitchFamily="34" charset="-122"/>
                <a:cs typeface="Calibri" pitchFamily="34" charset="-120"/>
              </a:rPr>
              <a:t>٥</a:t>
            </a:r>
            <a:endParaRPr lang="en-US" sz="2600" dirty="0"/>
          </a:p>
        </p:txBody>
      </p:sp>
      <p:sp>
        <p:nvSpPr>
          <p:cNvPr id="24" name="Text 22"/>
          <p:cNvSpPr txBox="1"/>
          <p:nvPr/>
        </p:nvSpPr>
        <p:spPr>
          <a:xfrm>
            <a:off x="952348" y="3931920"/>
            <a:ext cx="1874520" cy="457200"/>
          </a:xfrm>
          <a:prstGeom prst="rect">
            <a:avLst/>
          </a:prstGeom>
          <a:noFill/>
          <a:ln/>
        </p:spPr>
        <p:txBody>
          <a:bodyPr wrap="square" lIns="0" tIns="0" rIns="0" bIns="0" rtlCol="0" anchor="ctr"/>
          <a:lstStyle/>
          <a:p>
            <a:pPr rtl="1" algn="ctr" indent="0" marL="0">
              <a:buNone/>
            </a:pPr>
            <a:r>
              <a:rPr lang="en-US" sz="1400" b="1" dirty="0">
                <a:solidFill>
                  <a:srgbClr val="0B1F3A"/>
                </a:solidFill>
                <a:latin typeface="Calibri" pitchFamily="34" charset="0"/>
                <a:ea typeface="Calibri" pitchFamily="34" charset="-122"/>
                <a:cs typeface="Calibri" pitchFamily="34" charset="-120"/>
              </a:rPr>
              <a:t>اقتراح مناطق البحث</a:t>
            </a:r>
            <a:endParaRPr lang="en-US" sz="1400" dirty="0"/>
          </a:p>
        </p:txBody>
      </p:sp>
      <p:sp>
        <p:nvSpPr>
          <p:cNvPr id="25" name="Text 23"/>
          <p:cNvSpPr txBox="1"/>
          <p:nvPr/>
        </p:nvSpPr>
        <p:spPr>
          <a:xfrm>
            <a:off x="632308" y="4617720"/>
            <a:ext cx="10927080" cy="548640"/>
          </a:xfrm>
          <a:prstGeom prst="rect">
            <a:avLst/>
          </a:prstGeom>
          <a:noFill/>
          <a:ln/>
        </p:spPr>
        <p:txBody>
          <a:bodyPr wrap="square" lIns="0" tIns="0" rIns="0" bIns="0" rtlCol="0" anchor="t"/>
          <a:lstStyle/>
          <a:p>
            <a:pPr rtl="1" algn="ctr" indent="0" marL="0">
              <a:buNone/>
            </a:pPr>
            <a:r>
              <a:rPr lang="en-US" sz="1250" i="1" dirty="0">
                <a:solidFill>
                  <a:srgbClr val="5A6B87"/>
                </a:solidFill>
                <a:latin typeface="Arial" pitchFamily="34" charset="0"/>
                <a:ea typeface="Arial" pitchFamily="34" charset="-122"/>
                <a:cs typeface="Arial" pitchFamily="34" charset="-120"/>
              </a:rPr>
              <a:t>يستخدم الذكاء الاصطناعي عند الحاجة لاقتراح مناطق البحث وترتيب أولوياتها — وليس للتتبع المباشر بعد انقطاع الاتصال</a:t>
            </a:r>
            <a:endParaRPr lang="en-US" sz="1250" dirty="0"/>
          </a:p>
        </p:txBody>
      </p:sp>
      <p:sp>
        <p:nvSpPr>
          <p:cNvPr id="26" name="Text 24"/>
          <p:cNvSpPr txBox="1"/>
          <p:nvPr/>
        </p:nvSpPr>
        <p:spPr>
          <a:xfrm>
            <a:off x="457200" y="6355080"/>
            <a:ext cx="1097280" cy="320040"/>
          </a:xfrm>
          <a:prstGeom prst="rect">
            <a:avLst/>
          </a:prstGeom>
          <a:noFill/>
          <a:ln/>
        </p:spPr>
        <p:txBody>
          <a:bodyPr wrap="square" lIns="0" tIns="0" rIns="0" bIns="0" rtlCol="0" anchor="ctr"/>
          <a:lstStyle/>
          <a:p>
            <a:pPr algn="l" indent="0" marL="0">
              <a:buNone/>
            </a:pPr>
            <a:r>
              <a:rPr lang="en-US" sz="1050" dirty="0">
                <a:solidFill>
                  <a:srgbClr val="5A6B87"/>
                </a:solidFill>
                <a:latin typeface="Arial" pitchFamily="34" charset="0"/>
                <a:ea typeface="Arial" pitchFamily="34" charset="-122"/>
                <a:cs typeface="Arial" pitchFamily="34" charset="-120"/>
              </a:rPr>
              <a:t>2 / 7</a:t>
            </a:r>
            <a:endParaRPr lang="en-US" sz="1050" dirty="0"/>
          </a:p>
        </p:txBody>
      </p:sp>
      <p:sp>
        <p:nvSpPr>
          <p:cNvPr id="27" name="Text 25"/>
          <p:cNvSpPr txBox="1"/>
          <p:nvPr/>
        </p:nvSpPr>
        <p:spPr>
          <a:xfrm>
            <a:off x="7162495" y="6355080"/>
            <a:ext cx="4572000" cy="320040"/>
          </a:xfrm>
          <a:prstGeom prst="rect">
            <a:avLst/>
          </a:prstGeom>
          <a:noFill/>
          <a:ln/>
        </p:spPr>
        <p:txBody>
          <a:bodyPr wrap="square" lIns="0" tIns="0" rIns="0" bIns="0" rtlCol="0" anchor="ctr"/>
          <a:lstStyle/>
          <a:p>
            <a:pPr rtl="1" algn="r" indent="0" marL="0">
              <a:buNone/>
            </a:pPr>
            <a:r>
              <a:rPr lang="en-US" sz="1050" dirty="0">
                <a:solidFill>
                  <a:srgbClr val="5A6B87"/>
                </a:solidFill>
                <a:latin typeface="Arial" pitchFamily="34" charset="0"/>
                <a:ea typeface="Arial" pitchFamily="34" charset="-122"/>
                <a:cs typeface="Arial" pitchFamily="34" charset="-120"/>
              </a:rPr>
              <a:t>أثر — مساعد ذكي للبحث عن المفقودين</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640080" y="411480"/>
            <a:ext cx="10911535" cy="457200"/>
          </a:xfrm>
          <a:prstGeom prst="rect">
            <a:avLst/>
          </a:prstGeom>
          <a:noFill/>
          <a:ln/>
        </p:spPr>
        <p:txBody>
          <a:bodyPr wrap="square" lIns="0" tIns="0" rIns="0" bIns="0" rtlCol="0" anchor="ctr"/>
          <a:lstStyle/>
          <a:p>
            <a:pPr rtl="1" algn="r" indent="0" marL="0">
              <a:buNone/>
            </a:pPr>
            <a:r>
              <a:rPr lang="en-US" sz="1500" b="1" dirty="0">
                <a:solidFill>
                  <a:srgbClr val="12746F"/>
                </a:solidFill>
                <a:latin typeface="Calibri" pitchFamily="34" charset="0"/>
                <a:ea typeface="Calibri" pitchFamily="34" charset="-122"/>
                <a:cs typeface="Calibri" pitchFamily="34" charset="-120"/>
              </a:rPr>
              <a:t>قبل الرحلة</a:t>
            </a:r>
            <a:endParaRPr lang="en-US" sz="1500" dirty="0"/>
          </a:p>
        </p:txBody>
      </p:sp>
      <p:sp>
        <p:nvSpPr>
          <p:cNvPr id="3" name="Text 1"/>
          <p:cNvSpPr txBox="1"/>
          <p:nvPr/>
        </p:nvSpPr>
        <p:spPr>
          <a:xfrm>
            <a:off x="640080" y="868680"/>
            <a:ext cx="10911535" cy="731520"/>
          </a:xfrm>
          <a:prstGeom prst="rect">
            <a:avLst/>
          </a:prstGeom>
          <a:noFill/>
          <a:ln/>
        </p:spPr>
        <p:txBody>
          <a:bodyPr wrap="square" lIns="0" tIns="0" rIns="0" bIns="0" rtlCol="0" anchor="ctr"/>
          <a:lstStyle/>
          <a:p>
            <a:pPr rtl="1" algn="r" indent="0" marL="0">
              <a:buNone/>
            </a:pPr>
            <a:r>
              <a:rPr lang="en-US" sz="3000" b="1" dirty="0">
                <a:solidFill>
                  <a:srgbClr val="0B1F3A"/>
                </a:solidFill>
                <a:latin typeface="Calibri" pitchFamily="34" charset="0"/>
                <a:ea typeface="Calibri" pitchFamily="34" charset="-122"/>
                <a:cs typeface="Calibri" pitchFamily="34" charset="-120"/>
              </a:rPr>
              <a:t>تسجيل بسيط وسريع لخطة الرحلة</a:t>
            </a:r>
            <a:endParaRPr lang="en-US" sz="3000" dirty="0"/>
          </a:p>
        </p:txBody>
      </p:sp>
      <p:sp>
        <p:nvSpPr>
          <p:cNvPr id="4" name="Shape 2"/>
          <p:cNvSpPr/>
          <p:nvPr/>
        </p:nvSpPr>
        <p:spPr>
          <a:xfrm>
            <a:off x="3169768" y="1783080"/>
            <a:ext cx="5852160" cy="3794760"/>
          </a:xfrm>
          <a:prstGeom prst="roundRect">
            <a:avLst>
              <a:gd name="adj" fmla="val 2892"/>
            </a:avLst>
          </a:prstGeom>
          <a:solidFill>
            <a:srgbClr val="FFFFFF"/>
          </a:solidFill>
          <a:ln w="12700">
            <a:solidFill>
              <a:srgbClr val="E3E9F2"/>
            </a:solidFill>
            <a:prstDash val="solid"/>
          </a:ln>
          <a:effectLst>
            <a:outerShdw sx="100000" sy="100000" kx="0" ky="0" algn="bl" rotWithShape="0" blurRad="101600" dist="38100" dir="5400000">
              <a:srgbClr val="0B1F3A">
                <a:alpha val="12000"/>
              </a:srgbClr>
            </a:outerShdw>
          </a:effectLst>
        </p:spPr>
      </p:sp>
      <p:sp>
        <p:nvSpPr>
          <p:cNvPr id="5" name="Shape 3"/>
          <p:cNvSpPr/>
          <p:nvPr/>
        </p:nvSpPr>
        <p:spPr>
          <a:xfrm>
            <a:off x="3489808" y="2057400"/>
            <a:ext cx="5212080" cy="502920"/>
          </a:xfrm>
          <a:prstGeom prst="roundRect">
            <a:avLst>
              <a:gd name="adj" fmla="val 14545"/>
            </a:avLst>
          </a:prstGeom>
          <a:solidFill>
            <a:srgbClr val="E9F7F5"/>
          </a:solidFill>
          <a:ln/>
        </p:spPr>
      </p:sp>
      <p:sp>
        <p:nvSpPr>
          <p:cNvPr id="6" name="Text 4"/>
          <p:cNvSpPr txBox="1"/>
          <p:nvPr/>
        </p:nvSpPr>
        <p:spPr>
          <a:xfrm>
            <a:off x="3672688" y="2057400"/>
            <a:ext cx="4846320" cy="502920"/>
          </a:xfrm>
          <a:prstGeom prst="rect">
            <a:avLst/>
          </a:prstGeom>
          <a:noFill/>
          <a:ln/>
        </p:spPr>
        <p:txBody>
          <a:bodyPr wrap="square" lIns="0" tIns="0" rIns="0" bIns="0" rtlCol="0" anchor="ctr"/>
          <a:lstStyle/>
          <a:p>
            <a:pPr rtl="1" algn="r" indent="0" marL="0">
              <a:buNone/>
            </a:pPr>
            <a:r>
              <a:rPr lang="en-US" sz="1400" b="1" dirty="0">
                <a:solidFill>
                  <a:srgbClr val="12746F"/>
                </a:solidFill>
                <a:latin typeface="Arial" pitchFamily="34" charset="0"/>
                <a:ea typeface="Arial" pitchFamily="34" charset="-122"/>
                <a:cs typeface="Arial" pitchFamily="34" charset="-120"/>
              </a:rPr>
              <a:t>واجهة المسافر — الرحلة جارية</a:t>
            </a:r>
            <a:endParaRPr lang="en-US" sz="1400" dirty="0"/>
          </a:p>
        </p:txBody>
      </p:sp>
      <p:sp>
        <p:nvSpPr>
          <p:cNvPr id="7" name="Shape 5"/>
          <p:cNvSpPr/>
          <p:nvPr/>
        </p:nvSpPr>
        <p:spPr>
          <a:xfrm>
            <a:off x="8176108" y="2811780"/>
            <a:ext cx="502920" cy="502920"/>
          </a:xfrm>
          <a:prstGeom prst="ellipse">
            <a:avLst/>
          </a:prstGeom>
          <a:solidFill>
            <a:srgbClr val="E9F7F5"/>
          </a:solidFill>
          <a:ln/>
        </p:spPr>
      </p:sp>
      <p:sp>
        <p:nvSpPr>
          <p:cNvPr id="8" name="Text 6"/>
          <p:cNvSpPr txBox="1"/>
          <p:nvPr/>
        </p:nvSpPr>
        <p:spPr>
          <a:xfrm>
            <a:off x="3489808" y="2743200"/>
            <a:ext cx="4663440" cy="320040"/>
          </a:xfrm>
          <a:prstGeom prst="rect">
            <a:avLst/>
          </a:prstGeom>
          <a:noFill/>
          <a:ln/>
        </p:spPr>
        <p:txBody>
          <a:bodyPr wrap="square" lIns="0" tIns="0" rIns="0" bIns="0" rtlCol="0" anchor="t"/>
          <a:lstStyle/>
          <a:p>
            <a:pPr rtl="1" algn="r" indent="0" marL="0">
              <a:buNone/>
            </a:pPr>
            <a:r>
              <a:rPr lang="en-US" sz="1200" dirty="0">
                <a:solidFill>
                  <a:srgbClr val="5A6B87"/>
                </a:solidFill>
                <a:latin typeface="Arial" pitchFamily="34" charset="0"/>
                <a:ea typeface="Arial" pitchFamily="34" charset="-122"/>
                <a:cs typeface="Arial" pitchFamily="34" charset="-120"/>
              </a:rPr>
              <a:t>الوجهة</a:t>
            </a:r>
            <a:endParaRPr lang="en-US" sz="1200" dirty="0"/>
          </a:p>
        </p:txBody>
      </p:sp>
      <p:sp>
        <p:nvSpPr>
          <p:cNvPr id="9" name="Text 7"/>
          <p:cNvSpPr txBox="1"/>
          <p:nvPr/>
        </p:nvSpPr>
        <p:spPr>
          <a:xfrm>
            <a:off x="3489808" y="3044952"/>
            <a:ext cx="4663440" cy="365760"/>
          </a:xfrm>
          <a:prstGeom prst="rect">
            <a:avLst/>
          </a:prstGeom>
          <a:noFill/>
          <a:ln/>
        </p:spPr>
        <p:txBody>
          <a:bodyPr wrap="square" lIns="0" tIns="0" rIns="0" bIns="0" rtlCol="0" anchor="t"/>
          <a:lstStyle/>
          <a:p>
            <a:pPr rtl="1" algn="r" indent="0" marL="0">
              <a:buNone/>
            </a:pPr>
            <a:r>
              <a:rPr lang="en-US" sz="1550" b="1" dirty="0">
                <a:solidFill>
                  <a:srgbClr val="0B1F3A"/>
                </a:solidFill>
                <a:latin typeface="Arial" pitchFamily="34" charset="0"/>
                <a:ea typeface="Arial" pitchFamily="34" charset="-122"/>
                <a:cs typeface="Arial" pitchFamily="34" charset="-120"/>
              </a:rPr>
              <a:t>واحة الشعيب — طريق ٤١٢ البري</a:t>
            </a:r>
            <a:endParaRPr lang="en-US" sz="1550" dirty="0"/>
          </a:p>
        </p:txBody>
      </p:sp>
      <p:sp>
        <p:nvSpPr>
          <p:cNvPr id="10" name="Shape 8"/>
          <p:cNvSpPr/>
          <p:nvPr/>
        </p:nvSpPr>
        <p:spPr>
          <a:xfrm>
            <a:off x="8176108" y="3515868"/>
            <a:ext cx="502920" cy="502920"/>
          </a:xfrm>
          <a:prstGeom prst="ellipse">
            <a:avLst/>
          </a:prstGeom>
          <a:solidFill>
            <a:srgbClr val="E9F7F5"/>
          </a:solidFill>
          <a:ln/>
        </p:spPr>
      </p:sp>
      <p:sp>
        <p:nvSpPr>
          <p:cNvPr id="11" name="Text 9"/>
          <p:cNvSpPr txBox="1"/>
          <p:nvPr/>
        </p:nvSpPr>
        <p:spPr>
          <a:xfrm>
            <a:off x="3489808" y="3447288"/>
            <a:ext cx="4663440" cy="320040"/>
          </a:xfrm>
          <a:prstGeom prst="rect">
            <a:avLst/>
          </a:prstGeom>
          <a:noFill/>
          <a:ln/>
        </p:spPr>
        <p:txBody>
          <a:bodyPr wrap="square" lIns="0" tIns="0" rIns="0" bIns="0" rtlCol="0" anchor="t"/>
          <a:lstStyle/>
          <a:p>
            <a:pPr rtl="1" algn="r" indent="0" marL="0">
              <a:buNone/>
            </a:pPr>
            <a:r>
              <a:rPr lang="en-US" sz="1200" dirty="0">
                <a:solidFill>
                  <a:srgbClr val="5A6B87"/>
                </a:solidFill>
                <a:latin typeface="Arial" pitchFamily="34" charset="0"/>
                <a:ea typeface="Arial" pitchFamily="34" charset="-122"/>
                <a:cs typeface="Arial" pitchFamily="34" charset="-120"/>
              </a:rPr>
              <a:t>موعد الاطمئنان القادم</a:t>
            </a:r>
            <a:endParaRPr lang="en-US" sz="1200" dirty="0"/>
          </a:p>
        </p:txBody>
      </p:sp>
      <p:sp>
        <p:nvSpPr>
          <p:cNvPr id="12" name="Text 10"/>
          <p:cNvSpPr txBox="1"/>
          <p:nvPr/>
        </p:nvSpPr>
        <p:spPr>
          <a:xfrm>
            <a:off x="3489808" y="3749040"/>
            <a:ext cx="4663440" cy="365760"/>
          </a:xfrm>
          <a:prstGeom prst="rect">
            <a:avLst/>
          </a:prstGeom>
          <a:noFill/>
          <a:ln/>
        </p:spPr>
        <p:txBody>
          <a:bodyPr wrap="square" lIns="0" tIns="0" rIns="0" bIns="0" rtlCol="0" anchor="t"/>
          <a:lstStyle/>
          <a:p>
            <a:pPr rtl="1" algn="r" indent="0" marL="0">
              <a:buNone/>
            </a:pPr>
            <a:r>
              <a:rPr lang="en-US" sz="1550" b="1" dirty="0">
                <a:solidFill>
                  <a:srgbClr val="0B1F3A"/>
                </a:solidFill>
                <a:latin typeface="Arial" pitchFamily="34" charset="0"/>
                <a:ea typeface="Arial" pitchFamily="34" charset="-122"/>
                <a:cs typeface="Arial" pitchFamily="34" charset="-120"/>
              </a:rPr>
              <a:t>اليوم — الساعة ٨:٠٠ مساءً</a:t>
            </a:r>
            <a:endParaRPr lang="en-US" sz="1550" dirty="0"/>
          </a:p>
        </p:txBody>
      </p:sp>
      <p:sp>
        <p:nvSpPr>
          <p:cNvPr id="13" name="Shape 11"/>
          <p:cNvSpPr/>
          <p:nvPr/>
        </p:nvSpPr>
        <p:spPr>
          <a:xfrm>
            <a:off x="8176108" y="4219956"/>
            <a:ext cx="502920" cy="502920"/>
          </a:xfrm>
          <a:prstGeom prst="ellipse">
            <a:avLst/>
          </a:prstGeom>
          <a:solidFill>
            <a:srgbClr val="E9F7F5"/>
          </a:solidFill>
          <a:ln/>
        </p:spPr>
      </p:sp>
      <p:sp>
        <p:nvSpPr>
          <p:cNvPr id="14" name="Text 12"/>
          <p:cNvSpPr txBox="1"/>
          <p:nvPr/>
        </p:nvSpPr>
        <p:spPr>
          <a:xfrm>
            <a:off x="3489808" y="4151376"/>
            <a:ext cx="4663440" cy="320040"/>
          </a:xfrm>
          <a:prstGeom prst="rect">
            <a:avLst/>
          </a:prstGeom>
          <a:noFill/>
          <a:ln/>
        </p:spPr>
        <p:txBody>
          <a:bodyPr wrap="square" lIns="0" tIns="0" rIns="0" bIns="0" rtlCol="0" anchor="t"/>
          <a:lstStyle/>
          <a:p>
            <a:pPr rtl="1" algn="r" indent="0" marL="0">
              <a:buNone/>
            </a:pPr>
            <a:r>
              <a:rPr lang="en-US" sz="1200" dirty="0">
                <a:solidFill>
                  <a:srgbClr val="5A6B87"/>
                </a:solidFill>
                <a:latin typeface="Arial" pitchFamily="34" charset="0"/>
                <a:ea typeface="Arial" pitchFamily="34" charset="-122"/>
                <a:cs typeface="Arial" pitchFamily="34" charset="-120"/>
              </a:rPr>
              <a:t>الشخص الموثوق للمتابعة</a:t>
            </a:r>
            <a:endParaRPr lang="en-US" sz="1200" dirty="0"/>
          </a:p>
        </p:txBody>
      </p:sp>
      <p:sp>
        <p:nvSpPr>
          <p:cNvPr id="15" name="Text 13"/>
          <p:cNvSpPr txBox="1"/>
          <p:nvPr/>
        </p:nvSpPr>
        <p:spPr>
          <a:xfrm>
            <a:off x="3489808" y="4453128"/>
            <a:ext cx="4663440" cy="365760"/>
          </a:xfrm>
          <a:prstGeom prst="rect">
            <a:avLst/>
          </a:prstGeom>
          <a:noFill/>
          <a:ln/>
        </p:spPr>
        <p:txBody>
          <a:bodyPr wrap="square" lIns="0" tIns="0" rIns="0" bIns="0" rtlCol="0" anchor="t"/>
          <a:lstStyle/>
          <a:p>
            <a:pPr rtl="1" algn="r" indent="0" marL="0">
              <a:buNone/>
            </a:pPr>
            <a:r>
              <a:rPr lang="en-US" sz="1550" b="1" dirty="0">
                <a:solidFill>
                  <a:srgbClr val="0B1F3A"/>
                </a:solidFill>
                <a:latin typeface="Arial" pitchFamily="34" charset="0"/>
                <a:ea typeface="Arial" pitchFamily="34" charset="-122"/>
                <a:cs typeface="Arial" pitchFamily="34" charset="-120"/>
              </a:rPr>
              <a:t>سالم العتيبي — أخ المسافر</a:t>
            </a:r>
            <a:endParaRPr lang="en-US" sz="1550" dirty="0"/>
          </a:p>
        </p:txBody>
      </p:sp>
      <p:sp>
        <p:nvSpPr>
          <p:cNvPr id="16" name="Shape 14"/>
          <p:cNvSpPr/>
          <p:nvPr/>
        </p:nvSpPr>
        <p:spPr>
          <a:xfrm>
            <a:off x="8176108" y="4924044"/>
            <a:ext cx="502920" cy="502920"/>
          </a:xfrm>
          <a:prstGeom prst="ellipse">
            <a:avLst/>
          </a:prstGeom>
          <a:solidFill>
            <a:srgbClr val="E9F7F5"/>
          </a:solidFill>
          <a:ln/>
        </p:spPr>
      </p:sp>
      <p:sp>
        <p:nvSpPr>
          <p:cNvPr id="17" name="Text 15"/>
          <p:cNvSpPr txBox="1"/>
          <p:nvPr/>
        </p:nvSpPr>
        <p:spPr>
          <a:xfrm>
            <a:off x="3489808" y="4855464"/>
            <a:ext cx="4663440" cy="320040"/>
          </a:xfrm>
          <a:prstGeom prst="rect">
            <a:avLst/>
          </a:prstGeom>
          <a:noFill/>
          <a:ln/>
        </p:spPr>
        <p:txBody>
          <a:bodyPr wrap="square" lIns="0" tIns="0" rIns="0" bIns="0" rtlCol="0" anchor="t"/>
          <a:lstStyle/>
          <a:p>
            <a:pPr rtl="1" algn="r" indent="0" marL="0">
              <a:buNone/>
            </a:pPr>
            <a:r>
              <a:rPr lang="en-US" sz="1200" dirty="0">
                <a:solidFill>
                  <a:srgbClr val="5A6B87"/>
                </a:solidFill>
                <a:latin typeface="Arial" pitchFamily="34" charset="0"/>
                <a:ea typeface="Arial" pitchFamily="34" charset="-122"/>
                <a:cs typeface="Arial" pitchFamily="34" charset="-120"/>
              </a:rPr>
              <a:t>المركبة والركاب</a:t>
            </a:r>
            <a:endParaRPr lang="en-US" sz="1200" dirty="0"/>
          </a:p>
        </p:txBody>
      </p:sp>
      <p:sp>
        <p:nvSpPr>
          <p:cNvPr id="18" name="Text 16"/>
          <p:cNvSpPr txBox="1"/>
          <p:nvPr/>
        </p:nvSpPr>
        <p:spPr>
          <a:xfrm>
            <a:off x="3489808" y="5157216"/>
            <a:ext cx="4663440" cy="365760"/>
          </a:xfrm>
          <a:prstGeom prst="rect">
            <a:avLst/>
          </a:prstGeom>
          <a:noFill/>
          <a:ln/>
        </p:spPr>
        <p:txBody>
          <a:bodyPr wrap="square" lIns="0" tIns="0" rIns="0" bIns="0" rtlCol="0" anchor="t"/>
          <a:lstStyle/>
          <a:p>
            <a:pPr rtl="1" algn="r" indent="0" marL="0">
              <a:buNone/>
            </a:pPr>
            <a:r>
              <a:rPr lang="en-US" sz="1550" b="1" dirty="0">
                <a:solidFill>
                  <a:srgbClr val="0B1F3A"/>
                </a:solidFill>
                <a:latin typeface="Arial" pitchFamily="34" charset="0"/>
                <a:ea typeface="Arial" pitchFamily="34" charset="-122"/>
                <a:cs typeface="Arial" pitchFamily="34" charset="-120"/>
              </a:rPr>
              <a:t>دفع رباعي أبيض — ٣ ركاب</a:t>
            </a:r>
            <a:endParaRPr lang="en-US" sz="1550" dirty="0"/>
          </a:p>
        </p:txBody>
      </p:sp>
      <p:sp>
        <p:nvSpPr>
          <p:cNvPr id="19" name="Shape 17"/>
          <p:cNvSpPr/>
          <p:nvPr/>
        </p:nvSpPr>
        <p:spPr>
          <a:xfrm>
            <a:off x="6644488" y="1280160"/>
            <a:ext cx="2377440" cy="365760"/>
          </a:xfrm>
          <a:prstGeom prst="roundRect">
            <a:avLst>
              <a:gd name="adj" fmla="val 50000"/>
            </a:avLst>
          </a:prstGeom>
          <a:solidFill>
            <a:srgbClr val="1A3A63"/>
          </a:solidFill>
          <a:ln/>
        </p:spPr>
      </p:sp>
      <p:sp>
        <p:nvSpPr>
          <p:cNvPr id="20" name="Text 18"/>
          <p:cNvSpPr txBox="1"/>
          <p:nvPr/>
        </p:nvSpPr>
        <p:spPr>
          <a:xfrm>
            <a:off x="6644488" y="1280160"/>
            <a:ext cx="2377440" cy="365760"/>
          </a:xfrm>
          <a:prstGeom prst="rect">
            <a:avLst/>
          </a:prstGeom>
          <a:noFill/>
          <a:ln/>
        </p:spPr>
        <p:txBody>
          <a:bodyPr wrap="square" lIns="0" tIns="0" rIns="0" bIns="0" rtlCol="0" anchor="ctr"/>
          <a:lstStyle/>
          <a:p>
            <a:pPr rtl="1" algn="ctr" indent="0" marL="0">
              <a:buNone/>
            </a:pPr>
            <a:r>
              <a:rPr lang="en-US" sz="1050" b="1" dirty="0">
                <a:solidFill>
                  <a:srgbClr val="DCE6F5"/>
                </a:solidFill>
                <a:latin typeface="Calibri" pitchFamily="34" charset="0"/>
                <a:ea typeface="Calibri" pitchFamily="34" charset="-122"/>
                <a:cs typeface="Calibri" pitchFamily="34" charset="-120"/>
              </a:rPr>
              <a:t>تصور للواجهة · بيانات تجريبية</a:t>
            </a:r>
            <a:endParaRPr lang="en-US" sz="1050" dirty="0"/>
          </a:p>
        </p:txBody>
      </p:sp>
      <p:sp>
        <p:nvSpPr>
          <p:cNvPr id="21" name="Text 19"/>
          <p:cNvSpPr txBox="1"/>
          <p:nvPr/>
        </p:nvSpPr>
        <p:spPr>
          <a:xfrm>
            <a:off x="457200" y="6355080"/>
            <a:ext cx="1097280" cy="320040"/>
          </a:xfrm>
          <a:prstGeom prst="rect">
            <a:avLst/>
          </a:prstGeom>
          <a:noFill/>
          <a:ln/>
        </p:spPr>
        <p:txBody>
          <a:bodyPr wrap="square" lIns="0" tIns="0" rIns="0" bIns="0" rtlCol="0" anchor="ctr"/>
          <a:lstStyle/>
          <a:p>
            <a:pPr algn="l" indent="0" marL="0">
              <a:buNone/>
            </a:pPr>
            <a:r>
              <a:rPr lang="en-US" sz="1050" dirty="0">
                <a:solidFill>
                  <a:srgbClr val="5A6B87"/>
                </a:solidFill>
                <a:latin typeface="Arial" pitchFamily="34" charset="0"/>
                <a:ea typeface="Arial" pitchFamily="34" charset="-122"/>
                <a:cs typeface="Arial" pitchFamily="34" charset="-120"/>
              </a:rPr>
              <a:t>3 / 7</a:t>
            </a:r>
            <a:endParaRPr lang="en-US" sz="1050" dirty="0"/>
          </a:p>
        </p:txBody>
      </p:sp>
      <p:sp>
        <p:nvSpPr>
          <p:cNvPr id="22" name="Text 20"/>
          <p:cNvSpPr txBox="1"/>
          <p:nvPr/>
        </p:nvSpPr>
        <p:spPr>
          <a:xfrm>
            <a:off x="7162495" y="6355080"/>
            <a:ext cx="4572000" cy="320040"/>
          </a:xfrm>
          <a:prstGeom prst="rect">
            <a:avLst/>
          </a:prstGeom>
          <a:noFill/>
          <a:ln/>
        </p:spPr>
        <p:txBody>
          <a:bodyPr wrap="square" lIns="0" tIns="0" rIns="0" bIns="0" rtlCol="0" anchor="ctr"/>
          <a:lstStyle/>
          <a:p>
            <a:pPr rtl="1" algn="r" indent="0" marL="0">
              <a:buNone/>
            </a:pPr>
            <a:r>
              <a:rPr lang="en-US" sz="1050" dirty="0">
                <a:solidFill>
                  <a:srgbClr val="5A6B87"/>
                </a:solidFill>
                <a:latin typeface="Arial" pitchFamily="34" charset="0"/>
                <a:ea typeface="Arial" pitchFamily="34" charset="-122"/>
                <a:cs typeface="Arial" pitchFamily="34" charset="-120"/>
              </a:rPr>
              <a:t>أثر — مساعد ذكي للبحث عن المفقودين</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640080" y="411480"/>
            <a:ext cx="10911535" cy="457200"/>
          </a:xfrm>
          <a:prstGeom prst="rect">
            <a:avLst/>
          </a:prstGeom>
          <a:noFill/>
          <a:ln/>
        </p:spPr>
        <p:txBody>
          <a:bodyPr wrap="square" lIns="0" tIns="0" rIns="0" bIns="0" rtlCol="0" anchor="ctr"/>
          <a:lstStyle/>
          <a:p>
            <a:pPr rtl="1" algn="r" indent="0" marL="0">
              <a:buNone/>
            </a:pPr>
            <a:r>
              <a:rPr lang="en-US" sz="1500" b="1" dirty="0">
                <a:solidFill>
                  <a:srgbClr val="12746F"/>
                </a:solidFill>
                <a:latin typeface="Calibri" pitchFamily="34" charset="0"/>
                <a:ea typeface="Calibri" pitchFamily="34" charset="-122"/>
                <a:cs typeface="Calibri" pitchFamily="34" charset="-120"/>
              </a:rPr>
              <a:t>أثناء الرحلة</a:t>
            </a:r>
            <a:endParaRPr lang="en-US" sz="1500" dirty="0"/>
          </a:p>
        </p:txBody>
      </p:sp>
      <p:sp>
        <p:nvSpPr>
          <p:cNvPr id="3" name="Text 1"/>
          <p:cNvSpPr txBox="1"/>
          <p:nvPr/>
        </p:nvSpPr>
        <p:spPr>
          <a:xfrm>
            <a:off x="640080" y="868680"/>
            <a:ext cx="10911535" cy="731520"/>
          </a:xfrm>
          <a:prstGeom prst="rect">
            <a:avLst/>
          </a:prstGeom>
          <a:noFill/>
          <a:ln/>
        </p:spPr>
        <p:txBody>
          <a:bodyPr wrap="square" lIns="0" tIns="0" rIns="0" bIns="0" rtlCol="0" anchor="ctr"/>
          <a:lstStyle/>
          <a:p>
            <a:pPr rtl="1" algn="r" indent="0" marL="0">
              <a:buNone/>
            </a:pPr>
            <a:r>
              <a:rPr lang="en-US" sz="3000" b="1" dirty="0">
                <a:solidFill>
                  <a:srgbClr val="0B1F3A"/>
                </a:solidFill>
                <a:latin typeface="Calibri" pitchFamily="34" charset="0"/>
                <a:ea typeface="Calibri" pitchFamily="34" charset="-122"/>
                <a:cs typeface="Calibri" pitchFamily="34" charset="-120"/>
              </a:rPr>
              <a:t>عند تجاوز موعد الاطمئنان: تنبيه فوري</a:t>
            </a:r>
            <a:endParaRPr lang="en-US" sz="3000" dirty="0"/>
          </a:p>
        </p:txBody>
      </p:sp>
      <p:sp>
        <p:nvSpPr>
          <p:cNvPr id="4" name="Shape 2"/>
          <p:cNvSpPr/>
          <p:nvPr/>
        </p:nvSpPr>
        <p:spPr>
          <a:xfrm>
            <a:off x="3078328" y="1783080"/>
            <a:ext cx="6035040" cy="3794760"/>
          </a:xfrm>
          <a:prstGeom prst="roundRect">
            <a:avLst>
              <a:gd name="adj" fmla="val 2892"/>
            </a:avLst>
          </a:prstGeom>
          <a:solidFill>
            <a:srgbClr val="FFFFFF"/>
          </a:solidFill>
          <a:ln w="12700">
            <a:solidFill>
              <a:srgbClr val="E3E9F2"/>
            </a:solidFill>
            <a:prstDash val="solid"/>
          </a:ln>
          <a:effectLst>
            <a:outerShdw sx="100000" sy="100000" kx="0" ky="0" algn="bl" rotWithShape="0" blurRad="101600" dist="38100" dir="5400000">
              <a:srgbClr val="0B1F3A">
                <a:alpha val="12000"/>
              </a:srgbClr>
            </a:outerShdw>
          </a:effectLst>
        </p:spPr>
      </p:sp>
      <p:sp>
        <p:nvSpPr>
          <p:cNvPr id="5" name="Shape 3"/>
          <p:cNvSpPr/>
          <p:nvPr/>
        </p:nvSpPr>
        <p:spPr>
          <a:xfrm>
            <a:off x="3398368" y="2057400"/>
            <a:ext cx="5394960" cy="502920"/>
          </a:xfrm>
          <a:prstGeom prst="roundRect">
            <a:avLst>
              <a:gd name="adj" fmla="val 14545"/>
            </a:avLst>
          </a:prstGeom>
          <a:solidFill>
            <a:srgbClr val="FDECE8"/>
          </a:solidFill>
          <a:ln/>
        </p:spPr>
      </p:sp>
      <p:sp>
        <p:nvSpPr>
          <p:cNvPr id="6" name="Text 4"/>
          <p:cNvSpPr txBox="1"/>
          <p:nvPr/>
        </p:nvSpPr>
        <p:spPr>
          <a:xfrm>
            <a:off x="3581248" y="2057400"/>
            <a:ext cx="5029200" cy="502920"/>
          </a:xfrm>
          <a:prstGeom prst="rect">
            <a:avLst/>
          </a:prstGeom>
          <a:noFill/>
          <a:ln/>
        </p:spPr>
        <p:txBody>
          <a:bodyPr wrap="square" lIns="0" tIns="0" rIns="0" bIns="0" rtlCol="0" anchor="ctr"/>
          <a:lstStyle/>
          <a:p>
            <a:pPr rtl="1" algn="r" indent="0" marL="0">
              <a:buNone/>
            </a:pPr>
            <a:r>
              <a:rPr lang="en-US" sz="1400" b="1" dirty="0">
                <a:solidFill>
                  <a:srgbClr val="E8613C"/>
                </a:solidFill>
                <a:latin typeface="Arial" pitchFamily="34" charset="0"/>
                <a:ea typeface="Arial" pitchFamily="34" charset="-122"/>
                <a:cs typeface="Arial" pitchFamily="34" charset="-120"/>
              </a:rPr>
              <a:t>واجهة المتابعة — تجاوز موعد الاطمئنان</a:t>
            </a:r>
            <a:endParaRPr lang="en-US" sz="1400" dirty="0"/>
          </a:p>
        </p:txBody>
      </p:sp>
      <p:sp>
        <p:nvSpPr>
          <p:cNvPr id="7" name="Shape 5"/>
          <p:cNvSpPr/>
          <p:nvPr/>
        </p:nvSpPr>
        <p:spPr>
          <a:xfrm>
            <a:off x="3398368" y="2743200"/>
            <a:ext cx="5394960" cy="914400"/>
          </a:xfrm>
          <a:prstGeom prst="roundRect">
            <a:avLst>
              <a:gd name="adj" fmla="val 10000"/>
            </a:avLst>
          </a:prstGeom>
          <a:solidFill>
            <a:srgbClr val="FDECE8"/>
          </a:solidFill>
          <a:ln w="12700">
            <a:solidFill>
              <a:srgbClr val="F4C4B4"/>
            </a:solidFill>
            <a:prstDash val="solid"/>
          </a:ln>
        </p:spPr>
      </p:sp>
      <p:sp>
        <p:nvSpPr>
          <p:cNvPr id="8" name="Shape 6"/>
          <p:cNvSpPr/>
          <p:nvPr/>
        </p:nvSpPr>
        <p:spPr>
          <a:xfrm>
            <a:off x="8198968" y="2971800"/>
            <a:ext cx="457200" cy="457200"/>
          </a:xfrm>
          <a:prstGeom prst="ellipse">
            <a:avLst/>
          </a:prstGeom>
          <a:solidFill>
            <a:srgbClr val="FFFFFF"/>
          </a:solidFill>
          <a:ln/>
        </p:spPr>
      </p:sp>
      <p:sp>
        <p:nvSpPr>
          <p:cNvPr id="9" name="Text 7"/>
          <p:cNvSpPr txBox="1"/>
          <p:nvPr/>
        </p:nvSpPr>
        <p:spPr>
          <a:xfrm>
            <a:off x="8198968" y="2971800"/>
            <a:ext cx="457200" cy="457200"/>
          </a:xfrm>
          <a:prstGeom prst="rect">
            <a:avLst/>
          </a:prstGeom>
          <a:noFill/>
          <a:ln/>
        </p:spPr>
        <p:txBody>
          <a:bodyPr wrap="square" lIns="0" tIns="0" rIns="0" bIns="0" rtlCol="0" anchor="ctr"/>
          <a:lstStyle/>
          <a:p>
            <a:pPr algn="ctr" indent="0" marL="0">
              <a:buNone/>
            </a:pPr>
            <a:r>
              <a:rPr lang="en-US" sz="2000" b="1" dirty="0">
                <a:solidFill>
                  <a:srgbClr val="E8613C"/>
                </a:solidFill>
                <a:latin typeface="Calibri" pitchFamily="34" charset="0"/>
                <a:ea typeface="Calibri" pitchFamily="34" charset="-122"/>
                <a:cs typeface="Calibri" pitchFamily="34" charset="-120"/>
              </a:rPr>
              <a:t>!</a:t>
            </a:r>
            <a:endParaRPr lang="en-US" sz="2000" dirty="0"/>
          </a:p>
        </p:txBody>
      </p:sp>
      <p:sp>
        <p:nvSpPr>
          <p:cNvPr id="10" name="Text 8"/>
          <p:cNvSpPr txBox="1"/>
          <p:nvPr/>
        </p:nvSpPr>
        <p:spPr>
          <a:xfrm>
            <a:off x="3581248" y="2862072"/>
            <a:ext cx="4663440" cy="320040"/>
          </a:xfrm>
          <a:prstGeom prst="rect">
            <a:avLst/>
          </a:prstGeom>
          <a:noFill/>
          <a:ln/>
        </p:spPr>
        <p:txBody>
          <a:bodyPr wrap="square" lIns="0" tIns="0" rIns="0" bIns="0" rtlCol="0" anchor="t"/>
          <a:lstStyle/>
          <a:p>
            <a:pPr rtl="1" algn="r" indent="0" marL="0">
              <a:buNone/>
            </a:pPr>
            <a:r>
              <a:rPr lang="en-US" sz="1450" b="1" dirty="0">
                <a:solidFill>
                  <a:srgbClr val="0B1F3A"/>
                </a:solidFill>
                <a:latin typeface="Arial" pitchFamily="34" charset="0"/>
                <a:ea typeface="Arial" pitchFamily="34" charset="-122"/>
                <a:cs typeface="Arial" pitchFamily="34" charset="-120"/>
              </a:rPr>
              <a:t>تنبيه: سالم لم يؤكد سلامته بعد موعد اطمئنانه</a:t>
            </a:r>
            <a:endParaRPr lang="en-US" sz="1450" dirty="0"/>
          </a:p>
        </p:txBody>
      </p:sp>
      <p:sp>
        <p:nvSpPr>
          <p:cNvPr id="11" name="Text 9"/>
          <p:cNvSpPr txBox="1"/>
          <p:nvPr/>
        </p:nvSpPr>
        <p:spPr>
          <a:xfrm>
            <a:off x="3581248" y="3200400"/>
            <a:ext cx="4663440" cy="320040"/>
          </a:xfrm>
          <a:prstGeom prst="rect">
            <a:avLst/>
          </a:prstGeom>
          <a:noFill/>
          <a:ln/>
        </p:spPr>
        <p:txBody>
          <a:bodyPr wrap="square" lIns="0" tIns="0" rIns="0" bIns="0" rtlCol="0" anchor="t"/>
          <a:lstStyle/>
          <a:p>
            <a:pPr rtl="1" algn="r" indent="0" marL="0">
              <a:buNone/>
            </a:pPr>
            <a:r>
              <a:rPr lang="en-US" sz="1200" dirty="0">
                <a:solidFill>
                  <a:srgbClr val="5A6B87"/>
                </a:solidFill>
                <a:latin typeface="Arial" pitchFamily="34" charset="0"/>
                <a:ea typeface="Arial" pitchFamily="34" charset="-122"/>
                <a:cs typeface="Arial" pitchFamily="34" charset="-120"/>
              </a:rPr>
              <a:t>آخر تحديث موقع: قبل ٣ ساعات و٤٠ دقيقة — بيانات تجريبية</a:t>
            </a:r>
            <a:endParaRPr lang="en-US" sz="1200" dirty="0"/>
          </a:p>
        </p:txBody>
      </p:sp>
      <p:sp>
        <p:nvSpPr>
          <p:cNvPr id="12" name="Text 10"/>
          <p:cNvSpPr txBox="1"/>
          <p:nvPr/>
        </p:nvSpPr>
        <p:spPr>
          <a:xfrm>
            <a:off x="3398368" y="3886200"/>
            <a:ext cx="5394960" cy="1463040"/>
          </a:xfrm>
          <a:prstGeom prst="rect">
            <a:avLst/>
          </a:prstGeom>
          <a:noFill/>
          <a:ln/>
        </p:spPr>
        <p:txBody>
          <a:bodyPr wrap="square" lIns="0" tIns="0" rIns="0" bIns="0" rtlCol="0" anchor="t"/>
          <a:lstStyle/>
          <a:p>
            <a:pPr rtl="1" algn="r" indent="0" marL="0">
              <a:lnSpc>
                <a:spcPct val="135000"/>
              </a:lnSpc>
              <a:buNone/>
            </a:pPr>
            <a:r>
              <a:rPr lang="en-US" sz="1450" dirty="0">
                <a:solidFill>
                  <a:srgbClr val="0B1F3A"/>
                </a:solidFill>
                <a:latin typeface="Arial" pitchFamily="34" charset="0"/>
                <a:ea typeface="Arial" pitchFamily="34" charset="-122"/>
                <a:cs typeface="Arial" pitchFamily="34" charset="-120"/>
              </a:rPr>
              <a:t>يستمر التطبيق بإرسال آخر المواقع تلقائيًا أثناء توفر الاتصال، وعند تجاوز المهلة المحددة يصل التنبيه للشخص المسؤول فورًا — حتى إن كان هاتف المسافر خارج التغطية في تلك اللحظة.</a:t>
            </a:r>
            <a:endParaRPr lang="en-US" sz="1450" dirty="0"/>
          </a:p>
        </p:txBody>
      </p:sp>
      <p:sp>
        <p:nvSpPr>
          <p:cNvPr id="13" name="Shape 11"/>
          <p:cNvSpPr/>
          <p:nvPr/>
        </p:nvSpPr>
        <p:spPr>
          <a:xfrm>
            <a:off x="6735928" y="1280160"/>
            <a:ext cx="2377440" cy="365760"/>
          </a:xfrm>
          <a:prstGeom prst="roundRect">
            <a:avLst>
              <a:gd name="adj" fmla="val 50000"/>
            </a:avLst>
          </a:prstGeom>
          <a:solidFill>
            <a:srgbClr val="1A3A63"/>
          </a:solidFill>
          <a:ln/>
        </p:spPr>
      </p:sp>
      <p:sp>
        <p:nvSpPr>
          <p:cNvPr id="14" name="Text 12"/>
          <p:cNvSpPr txBox="1"/>
          <p:nvPr/>
        </p:nvSpPr>
        <p:spPr>
          <a:xfrm>
            <a:off x="6735928" y="1280160"/>
            <a:ext cx="2377440" cy="365760"/>
          </a:xfrm>
          <a:prstGeom prst="rect">
            <a:avLst/>
          </a:prstGeom>
          <a:noFill/>
          <a:ln/>
        </p:spPr>
        <p:txBody>
          <a:bodyPr wrap="square" lIns="0" tIns="0" rIns="0" bIns="0" rtlCol="0" anchor="ctr"/>
          <a:lstStyle/>
          <a:p>
            <a:pPr rtl="1" algn="ctr" indent="0" marL="0">
              <a:buNone/>
            </a:pPr>
            <a:r>
              <a:rPr lang="en-US" sz="1050" b="1" dirty="0">
                <a:solidFill>
                  <a:srgbClr val="DCE6F5"/>
                </a:solidFill>
                <a:latin typeface="Calibri" pitchFamily="34" charset="0"/>
                <a:ea typeface="Calibri" pitchFamily="34" charset="-122"/>
                <a:cs typeface="Calibri" pitchFamily="34" charset="-120"/>
              </a:rPr>
              <a:t>تصور للواجهة · بيانات تجريبية</a:t>
            </a:r>
            <a:endParaRPr lang="en-US" sz="1050" dirty="0"/>
          </a:p>
        </p:txBody>
      </p:sp>
      <p:sp>
        <p:nvSpPr>
          <p:cNvPr id="15" name="Text 13"/>
          <p:cNvSpPr txBox="1"/>
          <p:nvPr/>
        </p:nvSpPr>
        <p:spPr>
          <a:xfrm>
            <a:off x="457200" y="6355080"/>
            <a:ext cx="1097280" cy="320040"/>
          </a:xfrm>
          <a:prstGeom prst="rect">
            <a:avLst/>
          </a:prstGeom>
          <a:noFill/>
          <a:ln/>
        </p:spPr>
        <p:txBody>
          <a:bodyPr wrap="square" lIns="0" tIns="0" rIns="0" bIns="0" rtlCol="0" anchor="ctr"/>
          <a:lstStyle/>
          <a:p>
            <a:pPr algn="l" indent="0" marL="0">
              <a:buNone/>
            </a:pPr>
            <a:r>
              <a:rPr lang="en-US" sz="1050" dirty="0">
                <a:solidFill>
                  <a:srgbClr val="5A6B87"/>
                </a:solidFill>
                <a:latin typeface="Arial" pitchFamily="34" charset="0"/>
                <a:ea typeface="Arial" pitchFamily="34" charset="-122"/>
                <a:cs typeface="Arial" pitchFamily="34" charset="-120"/>
              </a:rPr>
              <a:t>4 / 7</a:t>
            </a:r>
            <a:endParaRPr lang="en-US" sz="1050" dirty="0"/>
          </a:p>
        </p:txBody>
      </p:sp>
      <p:sp>
        <p:nvSpPr>
          <p:cNvPr id="16" name="Text 14"/>
          <p:cNvSpPr txBox="1"/>
          <p:nvPr/>
        </p:nvSpPr>
        <p:spPr>
          <a:xfrm>
            <a:off x="7162495" y="6355080"/>
            <a:ext cx="4572000" cy="320040"/>
          </a:xfrm>
          <a:prstGeom prst="rect">
            <a:avLst/>
          </a:prstGeom>
          <a:noFill/>
          <a:ln/>
        </p:spPr>
        <p:txBody>
          <a:bodyPr wrap="square" lIns="0" tIns="0" rIns="0" bIns="0" rtlCol="0" anchor="ctr"/>
          <a:lstStyle/>
          <a:p>
            <a:pPr rtl="1" algn="r" indent="0" marL="0">
              <a:buNone/>
            </a:pPr>
            <a:r>
              <a:rPr lang="en-US" sz="1050" dirty="0">
                <a:solidFill>
                  <a:srgbClr val="5A6B87"/>
                </a:solidFill>
                <a:latin typeface="Arial" pitchFamily="34" charset="0"/>
                <a:ea typeface="Arial" pitchFamily="34" charset="-122"/>
                <a:cs typeface="Arial" pitchFamily="34" charset="-120"/>
              </a:rPr>
              <a:t>أثر — مساعد ذكي للبحث عن المفقودين</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640080" y="411480"/>
            <a:ext cx="10911535" cy="457200"/>
          </a:xfrm>
          <a:prstGeom prst="rect">
            <a:avLst/>
          </a:prstGeom>
          <a:noFill/>
          <a:ln/>
        </p:spPr>
        <p:txBody>
          <a:bodyPr wrap="square" lIns="0" tIns="0" rIns="0" bIns="0" rtlCol="0" anchor="ctr"/>
          <a:lstStyle/>
          <a:p>
            <a:pPr rtl="1" algn="r" indent="0" marL="0">
              <a:buNone/>
            </a:pPr>
            <a:r>
              <a:rPr lang="en-US" sz="1500" b="1" dirty="0">
                <a:solidFill>
                  <a:srgbClr val="12746F"/>
                </a:solidFill>
                <a:latin typeface="Calibri" pitchFamily="34" charset="0"/>
                <a:ea typeface="Calibri" pitchFamily="34" charset="-122"/>
                <a:cs typeface="Calibri" pitchFamily="34" charset="-120"/>
              </a:rPr>
              <a:t>عند الحاجة للمساعدة</a:t>
            </a:r>
            <a:endParaRPr lang="en-US" sz="1500" dirty="0"/>
          </a:p>
        </p:txBody>
      </p:sp>
      <p:sp>
        <p:nvSpPr>
          <p:cNvPr id="3" name="Text 1"/>
          <p:cNvSpPr txBox="1"/>
          <p:nvPr/>
        </p:nvSpPr>
        <p:spPr>
          <a:xfrm>
            <a:off x="640080" y="868680"/>
            <a:ext cx="10911535" cy="731520"/>
          </a:xfrm>
          <a:prstGeom prst="rect">
            <a:avLst/>
          </a:prstGeom>
          <a:noFill/>
          <a:ln/>
        </p:spPr>
        <p:txBody>
          <a:bodyPr wrap="square" lIns="0" tIns="0" rIns="0" bIns="0" rtlCol="0" anchor="ctr"/>
          <a:lstStyle/>
          <a:p>
            <a:pPr rtl="1" algn="r" indent="0" marL="0">
              <a:buNone/>
            </a:pPr>
            <a:r>
              <a:rPr lang="en-US" sz="3000" b="1" dirty="0">
                <a:solidFill>
                  <a:srgbClr val="0B1F3A"/>
                </a:solidFill>
                <a:latin typeface="Calibri" pitchFamily="34" charset="0"/>
                <a:ea typeface="Calibri" pitchFamily="34" charset="-122"/>
                <a:cs typeface="Calibri" pitchFamily="34" charset="-120"/>
              </a:rPr>
              <a:t>بطاقة رحلة جاهزة للمشاركة فورًا</a:t>
            </a:r>
            <a:endParaRPr lang="en-US" sz="3000" dirty="0"/>
          </a:p>
        </p:txBody>
      </p:sp>
      <p:sp>
        <p:nvSpPr>
          <p:cNvPr id="4" name="Shape 2"/>
          <p:cNvSpPr/>
          <p:nvPr/>
        </p:nvSpPr>
        <p:spPr>
          <a:xfrm>
            <a:off x="2712568" y="1783080"/>
            <a:ext cx="6766560" cy="3794760"/>
          </a:xfrm>
          <a:prstGeom prst="roundRect">
            <a:avLst>
              <a:gd name="adj" fmla="val 2892"/>
            </a:avLst>
          </a:prstGeom>
          <a:solidFill>
            <a:srgbClr val="FFFFFF"/>
          </a:solidFill>
          <a:ln w="12700">
            <a:solidFill>
              <a:srgbClr val="E3E9F2"/>
            </a:solidFill>
            <a:prstDash val="solid"/>
          </a:ln>
          <a:effectLst>
            <a:outerShdw sx="100000" sy="100000" kx="0" ky="0" algn="bl" rotWithShape="0" blurRad="101600" dist="38100" dir="5400000">
              <a:srgbClr val="0B1F3A">
                <a:alpha val="12000"/>
              </a:srgbClr>
            </a:outerShdw>
          </a:effectLst>
        </p:spPr>
      </p:sp>
      <p:sp>
        <p:nvSpPr>
          <p:cNvPr id="5" name="Text 3"/>
          <p:cNvSpPr txBox="1"/>
          <p:nvPr/>
        </p:nvSpPr>
        <p:spPr>
          <a:xfrm>
            <a:off x="3078328" y="2057400"/>
            <a:ext cx="6035040" cy="411480"/>
          </a:xfrm>
          <a:prstGeom prst="rect">
            <a:avLst/>
          </a:prstGeom>
          <a:noFill/>
          <a:ln/>
        </p:spPr>
        <p:txBody>
          <a:bodyPr wrap="square" lIns="0" tIns="0" rIns="0" bIns="0" rtlCol="0" anchor="t"/>
          <a:lstStyle/>
          <a:p>
            <a:pPr rtl="1" algn="r" indent="0" marL="0">
              <a:buNone/>
            </a:pPr>
            <a:r>
              <a:rPr lang="en-US" sz="1700" b="1" dirty="0">
                <a:solidFill>
                  <a:srgbClr val="0B1F3A"/>
                </a:solidFill>
                <a:latin typeface="Arial" pitchFamily="34" charset="0"/>
                <a:ea typeface="Arial" pitchFamily="34" charset="-122"/>
                <a:cs typeface="Arial" pitchFamily="34" charset="-120"/>
              </a:rPr>
              <a:t>بطاقة رحلة — سالم العتيبي</a:t>
            </a:r>
            <a:endParaRPr lang="en-US" sz="1700" dirty="0"/>
          </a:p>
        </p:txBody>
      </p:sp>
      <p:sp>
        <p:nvSpPr>
          <p:cNvPr id="6" name="Text 4"/>
          <p:cNvSpPr txBox="1"/>
          <p:nvPr/>
        </p:nvSpPr>
        <p:spPr>
          <a:xfrm>
            <a:off x="3078328" y="2743200"/>
            <a:ext cx="2377440" cy="384048"/>
          </a:xfrm>
          <a:prstGeom prst="rect">
            <a:avLst/>
          </a:prstGeom>
          <a:noFill/>
          <a:ln/>
        </p:spPr>
        <p:txBody>
          <a:bodyPr wrap="square" lIns="0" tIns="0" rIns="0" bIns="0" rtlCol="0" anchor="t"/>
          <a:lstStyle/>
          <a:p>
            <a:pPr rtl="1" algn="r" indent="0" marL="0">
              <a:buNone/>
            </a:pPr>
            <a:r>
              <a:rPr lang="en-US" sz="1250" dirty="0">
                <a:solidFill>
                  <a:srgbClr val="5A6B87"/>
                </a:solidFill>
                <a:latin typeface="Arial" pitchFamily="34" charset="0"/>
                <a:ea typeface="Arial" pitchFamily="34" charset="-122"/>
                <a:cs typeface="Arial" pitchFamily="34" charset="-120"/>
              </a:rPr>
              <a:t>الوجهة والمسار</a:t>
            </a:r>
            <a:endParaRPr lang="en-US" sz="1250" dirty="0"/>
          </a:p>
        </p:txBody>
      </p:sp>
      <p:sp>
        <p:nvSpPr>
          <p:cNvPr id="7" name="Text 5"/>
          <p:cNvSpPr txBox="1"/>
          <p:nvPr/>
        </p:nvSpPr>
        <p:spPr>
          <a:xfrm>
            <a:off x="5547208" y="2743200"/>
            <a:ext cx="3566160" cy="384048"/>
          </a:xfrm>
          <a:prstGeom prst="rect">
            <a:avLst/>
          </a:prstGeom>
          <a:noFill/>
          <a:ln/>
        </p:spPr>
        <p:txBody>
          <a:bodyPr wrap="square" lIns="0" tIns="0" rIns="0" bIns="0" rtlCol="0" anchor="t"/>
          <a:lstStyle/>
          <a:p>
            <a:pPr rtl="1" algn="r" indent="0" marL="0">
              <a:buNone/>
            </a:pPr>
            <a:r>
              <a:rPr lang="en-US" sz="1400" b="1" dirty="0">
                <a:solidFill>
                  <a:srgbClr val="0B1F3A"/>
                </a:solidFill>
                <a:latin typeface="Arial" pitchFamily="34" charset="0"/>
                <a:ea typeface="Arial" pitchFamily="34" charset="-122"/>
                <a:cs typeface="Arial" pitchFamily="34" charset="-120"/>
              </a:rPr>
              <a:t>واحة الشعيب — طريق ٤١٢ البري</a:t>
            </a:r>
            <a:endParaRPr lang="en-US" sz="1400" dirty="0"/>
          </a:p>
        </p:txBody>
      </p:sp>
      <p:sp>
        <p:nvSpPr>
          <p:cNvPr id="8" name="Shape 6"/>
          <p:cNvSpPr/>
          <p:nvPr/>
        </p:nvSpPr>
        <p:spPr>
          <a:xfrm>
            <a:off x="2895448" y="3218688"/>
            <a:ext cx="6400800" cy="566928"/>
          </a:xfrm>
          <a:prstGeom prst="rect">
            <a:avLst/>
          </a:prstGeom>
          <a:solidFill>
            <a:srgbClr val="F7FAFC"/>
          </a:solidFill>
          <a:ln/>
        </p:spPr>
      </p:sp>
      <p:sp>
        <p:nvSpPr>
          <p:cNvPr id="9" name="Text 7"/>
          <p:cNvSpPr txBox="1"/>
          <p:nvPr/>
        </p:nvSpPr>
        <p:spPr>
          <a:xfrm>
            <a:off x="3078328" y="3310128"/>
            <a:ext cx="2377440" cy="384048"/>
          </a:xfrm>
          <a:prstGeom prst="rect">
            <a:avLst/>
          </a:prstGeom>
          <a:noFill/>
          <a:ln/>
        </p:spPr>
        <p:txBody>
          <a:bodyPr wrap="square" lIns="0" tIns="0" rIns="0" bIns="0" rtlCol="0" anchor="t"/>
          <a:lstStyle/>
          <a:p>
            <a:pPr rtl="1" algn="r" indent="0" marL="0">
              <a:buNone/>
            </a:pPr>
            <a:r>
              <a:rPr lang="en-US" sz="1250" dirty="0">
                <a:solidFill>
                  <a:srgbClr val="5A6B87"/>
                </a:solidFill>
                <a:latin typeface="Arial" pitchFamily="34" charset="0"/>
                <a:ea typeface="Arial" pitchFamily="34" charset="-122"/>
                <a:cs typeface="Arial" pitchFamily="34" charset="-120"/>
              </a:rPr>
              <a:t>آخر موقع مستلم</a:t>
            </a:r>
            <a:endParaRPr lang="en-US" sz="1250" dirty="0"/>
          </a:p>
        </p:txBody>
      </p:sp>
      <p:sp>
        <p:nvSpPr>
          <p:cNvPr id="10" name="Text 8"/>
          <p:cNvSpPr txBox="1"/>
          <p:nvPr/>
        </p:nvSpPr>
        <p:spPr>
          <a:xfrm>
            <a:off x="5547208" y="3310128"/>
            <a:ext cx="3566160" cy="384048"/>
          </a:xfrm>
          <a:prstGeom prst="rect">
            <a:avLst/>
          </a:prstGeom>
          <a:noFill/>
          <a:ln/>
        </p:spPr>
        <p:txBody>
          <a:bodyPr wrap="square" lIns="0" tIns="0" rIns="0" bIns="0" rtlCol="0" anchor="t"/>
          <a:lstStyle/>
          <a:p>
            <a:pPr rtl="1" algn="r" indent="0" marL="0">
              <a:buNone/>
            </a:pPr>
            <a:r>
              <a:rPr lang="en-US" sz="1400" b="1" dirty="0">
                <a:solidFill>
                  <a:srgbClr val="0B1F3A"/>
                </a:solidFill>
                <a:latin typeface="Arial" pitchFamily="34" charset="0"/>
                <a:ea typeface="Arial" pitchFamily="34" charset="-122"/>
                <a:cs typeface="Arial" pitchFamily="34" charset="-120"/>
              </a:rPr>
              <a:t>على بعد ٣٨ كم من الوجهة — ٥:٢٠ مساءً</a:t>
            </a:r>
            <a:endParaRPr lang="en-US" sz="1400" dirty="0"/>
          </a:p>
        </p:txBody>
      </p:sp>
      <p:sp>
        <p:nvSpPr>
          <p:cNvPr id="11" name="Text 9"/>
          <p:cNvSpPr txBox="1"/>
          <p:nvPr/>
        </p:nvSpPr>
        <p:spPr>
          <a:xfrm>
            <a:off x="3078328" y="3877056"/>
            <a:ext cx="2377440" cy="384048"/>
          </a:xfrm>
          <a:prstGeom prst="rect">
            <a:avLst/>
          </a:prstGeom>
          <a:noFill/>
          <a:ln/>
        </p:spPr>
        <p:txBody>
          <a:bodyPr wrap="square" lIns="0" tIns="0" rIns="0" bIns="0" rtlCol="0" anchor="t"/>
          <a:lstStyle/>
          <a:p>
            <a:pPr rtl="1" algn="r" indent="0" marL="0">
              <a:buNone/>
            </a:pPr>
            <a:r>
              <a:rPr lang="en-US" sz="1250" dirty="0">
                <a:solidFill>
                  <a:srgbClr val="5A6B87"/>
                </a:solidFill>
                <a:latin typeface="Arial" pitchFamily="34" charset="0"/>
                <a:ea typeface="Arial" pitchFamily="34" charset="-122"/>
                <a:cs typeface="Arial" pitchFamily="34" charset="-120"/>
              </a:rPr>
              <a:t>المركبة والركاب</a:t>
            </a:r>
            <a:endParaRPr lang="en-US" sz="1250" dirty="0"/>
          </a:p>
        </p:txBody>
      </p:sp>
      <p:sp>
        <p:nvSpPr>
          <p:cNvPr id="12" name="Text 10"/>
          <p:cNvSpPr txBox="1"/>
          <p:nvPr/>
        </p:nvSpPr>
        <p:spPr>
          <a:xfrm>
            <a:off x="5547208" y="3877056"/>
            <a:ext cx="3566160" cy="384048"/>
          </a:xfrm>
          <a:prstGeom prst="rect">
            <a:avLst/>
          </a:prstGeom>
          <a:noFill/>
          <a:ln/>
        </p:spPr>
        <p:txBody>
          <a:bodyPr wrap="square" lIns="0" tIns="0" rIns="0" bIns="0" rtlCol="0" anchor="t"/>
          <a:lstStyle/>
          <a:p>
            <a:pPr rtl="1" algn="r" indent="0" marL="0">
              <a:buNone/>
            </a:pPr>
            <a:r>
              <a:rPr lang="en-US" sz="1400" b="1" dirty="0">
                <a:solidFill>
                  <a:srgbClr val="0B1F3A"/>
                </a:solidFill>
                <a:latin typeface="Arial" pitchFamily="34" charset="0"/>
                <a:ea typeface="Arial" pitchFamily="34" charset="-122"/>
                <a:cs typeface="Arial" pitchFamily="34" charset="-120"/>
              </a:rPr>
              <a:t>دفع رباعي أبيض — ٣ ركاب</a:t>
            </a:r>
            <a:endParaRPr lang="en-US" sz="1400" dirty="0"/>
          </a:p>
        </p:txBody>
      </p:sp>
      <p:sp>
        <p:nvSpPr>
          <p:cNvPr id="13" name="Shape 11"/>
          <p:cNvSpPr/>
          <p:nvPr/>
        </p:nvSpPr>
        <p:spPr>
          <a:xfrm>
            <a:off x="2895448" y="4352544"/>
            <a:ext cx="6400800" cy="566928"/>
          </a:xfrm>
          <a:prstGeom prst="rect">
            <a:avLst/>
          </a:prstGeom>
          <a:solidFill>
            <a:srgbClr val="F7FAFC"/>
          </a:solidFill>
          <a:ln/>
        </p:spPr>
      </p:sp>
      <p:sp>
        <p:nvSpPr>
          <p:cNvPr id="14" name="Text 12"/>
          <p:cNvSpPr txBox="1"/>
          <p:nvPr/>
        </p:nvSpPr>
        <p:spPr>
          <a:xfrm>
            <a:off x="3078328" y="4443984"/>
            <a:ext cx="2377440" cy="384048"/>
          </a:xfrm>
          <a:prstGeom prst="rect">
            <a:avLst/>
          </a:prstGeom>
          <a:noFill/>
          <a:ln/>
        </p:spPr>
        <p:txBody>
          <a:bodyPr wrap="square" lIns="0" tIns="0" rIns="0" bIns="0" rtlCol="0" anchor="t"/>
          <a:lstStyle/>
          <a:p>
            <a:pPr rtl="1" algn="r" indent="0" marL="0">
              <a:buNone/>
            </a:pPr>
            <a:r>
              <a:rPr lang="en-US" sz="1250" dirty="0">
                <a:solidFill>
                  <a:srgbClr val="5A6B87"/>
                </a:solidFill>
                <a:latin typeface="Arial" pitchFamily="34" charset="0"/>
                <a:ea typeface="Arial" pitchFamily="34" charset="-122"/>
                <a:cs typeface="Arial" pitchFamily="34" charset="-120"/>
              </a:rPr>
              <a:t>جهة الاتصال</a:t>
            </a:r>
            <a:endParaRPr lang="en-US" sz="1250" dirty="0"/>
          </a:p>
        </p:txBody>
      </p:sp>
      <p:sp>
        <p:nvSpPr>
          <p:cNvPr id="15" name="Text 13"/>
          <p:cNvSpPr txBox="1"/>
          <p:nvPr/>
        </p:nvSpPr>
        <p:spPr>
          <a:xfrm>
            <a:off x="5547208" y="4443984"/>
            <a:ext cx="3566160" cy="384048"/>
          </a:xfrm>
          <a:prstGeom prst="rect">
            <a:avLst/>
          </a:prstGeom>
          <a:noFill/>
          <a:ln/>
        </p:spPr>
        <p:txBody>
          <a:bodyPr wrap="square" lIns="0" tIns="0" rIns="0" bIns="0" rtlCol="0" anchor="t"/>
          <a:lstStyle/>
          <a:p>
            <a:pPr rtl="1" algn="r" indent="0" marL="0">
              <a:buNone/>
            </a:pPr>
            <a:r>
              <a:rPr lang="en-US" sz="1400" b="1" dirty="0">
                <a:solidFill>
                  <a:srgbClr val="0B1F3A"/>
                </a:solidFill>
                <a:latin typeface="Arial" pitchFamily="34" charset="0"/>
                <a:ea typeface="Arial" pitchFamily="34" charset="-122"/>
                <a:cs typeface="Arial" pitchFamily="34" charset="-120"/>
              </a:rPr>
              <a:t>سالم العتيبي — ٠٥xxxxxxxx</a:t>
            </a:r>
            <a:endParaRPr lang="en-US" sz="1400" dirty="0"/>
          </a:p>
        </p:txBody>
      </p:sp>
      <p:sp>
        <p:nvSpPr>
          <p:cNvPr id="16" name="Shape 14"/>
          <p:cNvSpPr/>
          <p:nvPr/>
        </p:nvSpPr>
        <p:spPr>
          <a:xfrm>
            <a:off x="7101688" y="5084064"/>
            <a:ext cx="2011680" cy="457200"/>
          </a:xfrm>
          <a:prstGeom prst="roundRect">
            <a:avLst>
              <a:gd name="adj" fmla="val 50000"/>
            </a:avLst>
          </a:prstGeom>
          <a:solidFill>
            <a:srgbClr val="12746F"/>
          </a:solidFill>
          <a:ln/>
        </p:spPr>
      </p:sp>
      <p:sp>
        <p:nvSpPr>
          <p:cNvPr id="17" name="Text 15"/>
          <p:cNvSpPr txBox="1"/>
          <p:nvPr/>
        </p:nvSpPr>
        <p:spPr>
          <a:xfrm>
            <a:off x="7101688" y="5084064"/>
            <a:ext cx="2011680" cy="457200"/>
          </a:xfrm>
          <a:prstGeom prst="rect">
            <a:avLst/>
          </a:prstGeom>
          <a:noFill/>
          <a:ln/>
        </p:spPr>
        <p:txBody>
          <a:bodyPr wrap="square" lIns="0" tIns="0" rIns="0" bIns="0"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جاهزة للمشاركة الآن</a:t>
            </a:r>
            <a:endParaRPr lang="en-US" sz="1250" dirty="0"/>
          </a:p>
        </p:txBody>
      </p:sp>
      <p:sp>
        <p:nvSpPr>
          <p:cNvPr id="18" name="Shape 16"/>
          <p:cNvSpPr/>
          <p:nvPr/>
        </p:nvSpPr>
        <p:spPr>
          <a:xfrm>
            <a:off x="2712568" y="1280160"/>
            <a:ext cx="2377440" cy="365760"/>
          </a:xfrm>
          <a:prstGeom prst="roundRect">
            <a:avLst>
              <a:gd name="adj" fmla="val 50000"/>
            </a:avLst>
          </a:prstGeom>
          <a:solidFill>
            <a:srgbClr val="1A3A63"/>
          </a:solidFill>
          <a:ln/>
        </p:spPr>
      </p:sp>
      <p:sp>
        <p:nvSpPr>
          <p:cNvPr id="19" name="Text 17"/>
          <p:cNvSpPr txBox="1"/>
          <p:nvPr/>
        </p:nvSpPr>
        <p:spPr>
          <a:xfrm>
            <a:off x="2712568" y="1280160"/>
            <a:ext cx="2377440" cy="365760"/>
          </a:xfrm>
          <a:prstGeom prst="rect">
            <a:avLst/>
          </a:prstGeom>
          <a:noFill/>
          <a:ln/>
        </p:spPr>
        <p:txBody>
          <a:bodyPr wrap="square" lIns="0" tIns="0" rIns="0" bIns="0" rtlCol="0" anchor="ctr"/>
          <a:lstStyle/>
          <a:p>
            <a:pPr rtl="1" algn="ctr" indent="0" marL="0">
              <a:buNone/>
            </a:pPr>
            <a:r>
              <a:rPr lang="en-US" sz="1050" b="1" dirty="0">
                <a:solidFill>
                  <a:srgbClr val="DCE6F5"/>
                </a:solidFill>
                <a:latin typeface="Calibri" pitchFamily="34" charset="0"/>
                <a:ea typeface="Calibri" pitchFamily="34" charset="-122"/>
                <a:cs typeface="Calibri" pitchFamily="34" charset="-120"/>
              </a:rPr>
              <a:t>تصور للواجهة · بيانات تجريبية</a:t>
            </a:r>
            <a:endParaRPr lang="en-US" sz="1050" dirty="0"/>
          </a:p>
        </p:txBody>
      </p:sp>
      <p:sp>
        <p:nvSpPr>
          <p:cNvPr id="20" name="Text 18"/>
          <p:cNvSpPr txBox="1"/>
          <p:nvPr/>
        </p:nvSpPr>
        <p:spPr>
          <a:xfrm>
            <a:off x="457200" y="6355080"/>
            <a:ext cx="1097280" cy="320040"/>
          </a:xfrm>
          <a:prstGeom prst="rect">
            <a:avLst/>
          </a:prstGeom>
          <a:noFill/>
          <a:ln/>
        </p:spPr>
        <p:txBody>
          <a:bodyPr wrap="square" lIns="0" tIns="0" rIns="0" bIns="0" rtlCol="0" anchor="ctr"/>
          <a:lstStyle/>
          <a:p>
            <a:pPr algn="l" indent="0" marL="0">
              <a:buNone/>
            </a:pPr>
            <a:r>
              <a:rPr lang="en-US" sz="1050" dirty="0">
                <a:solidFill>
                  <a:srgbClr val="5A6B87"/>
                </a:solidFill>
                <a:latin typeface="Arial" pitchFamily="34" charset="0"/>
                <a:ea typeface="Arial" pitchFamily="34" charset="-122"/>
                <a:cs typeface="Arial" pitchFamily="34" charset="-120"/>
              </a:rPr>
              <a:t>5 / 7</a:t>
            </a:r>
            <a:endParaRPr lang="en-US" sz="1050" dirty="0"/>
          </a:p>
        </p:txBody>
      </p:sp>
      <p:sp>
        <p:nvSpPr>
          <p:cNvPr id="21" name="Text 19"/>
          <p:cNvSpPr txBox="1"/>
          <p:nvPr/>
        </p:nvSpPr>
        <p:spPr>
          <a:xfrm>
            <a:off x="7162495" y="6355080"/>
            <a:ext cx="4572000" cy="320040"/>
          </a:xfrm>
          <a:prstGeom prst="rect">
            <a:avLst/>
          </a:prstGeom>
          <a:noFill/>
          <a:ln/>
        </p:spPr>
        <p:txBody>
          <a:bodyPr wrap="square" lIns="0" tIns="0" rIns="0" bIns="0" rtlCol="0" anchor="ctr"/>
          <a:lstStyle/>
          <a:p>
            <a:pPr rtl="1" algn="r" indent="0" marL="0">
              <a:buNone/>
            </a:pPr>
            <a:r>
              <a:rPr lang="en-US" sz="1050" dirty="0">
                <a:solidFill>
                  <a:srgbClr val="5A6B87"/>
                </a:solidFill>
                <a:latin typeface="Arial" pitchFamily="34" charset="0"/>
                <a:ea typeface="Arial" pitchFamily="34" charset="-122"/>
                <a:cs typeface="Arial" pitchFamily="34" charset="-120"/>
              </a:rPr>
              <a:t>أثر — مساعد ذكي للبحث عن المفقودين</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640080" y="411480"/>
            <a:ext cx="10911535" cy="457200"/>
          </a:xfrm>
          <a:prstGeom prst="rect">
            <a:avLst/>
          </a:prstGeom>
          <a:noFill/>
          <a:ln/>
        </p:spPr>
        <p:txBody>
          <a:bodyPr wrap="square" lIns="0" tIns="0" rIns="0" bIns="0" rtlCol="0" anchor="ctr"/>
          <a:lstStyle/>
          <a:p>
            <a:pPr rtl="1" algn="r" indent="0" marL="0">
              <a:buNone/>
            </a:pPr>
            <a:r>
              <a:rPr lang="en-US" sz="1500" b="1" dirty="0">
                <a:solidFill>
                  <a:srgbClr val="12746F"/>
                </a:solidFill>
                <a:latin typeface="Calibri" pitchFamily="34" charset="0"/>
                <a:ea typeface="Calibri" pitchFamily="34" charset="-122"/>
                <a:cs typeface="Calibri" pitchFamily="34" charset="-120"/>
              </a:rPr>
              <a:t>الذكاء الاصطناعي في العمل</a:t>
            </a:r>
            <a:endParaRPr lang="en-US" sz="1500" dirty="0"/>
          </a:p>
        </p:txBody>
      </p:sp>
      <p:sp>
        <p:nvSpPr>
          <p:cNvPr id="3" name="Text 1"/>
          <p:cNvSpPr txBox="1"/>
          <p:nvPr/>
        </p:nvSpPr>
        <p:spPr>
          <a:xfrm>
            <a:off x="640080" y="868680"/>
            <a:ext cx="10911535" cy="731520"/>
          </a:xfrm>
          <a:prstGeom prst="rect">
            <a:avLst/>
          </a:prstGeom>
          <a:noFill/>
          <a:ln/>
        </p:spPr>
        <p:txBody>
          <a:bodyPr wrap="square" lIns="0" tIns="0" rIns="0" bIns="0" rtlCol="0" anchor="ctr"/>
          <a:lstStyle/>
          <a:p>
            <a:pPr rtl="1" algn="r" indent="0" marL="0">
              <a:buNone/>
            </a:pPr>
            <a:r>
              <a:rPr lang="en-US" sz="2700" b="1" dirty="0">
                <a:solidFill>
                  <a:srgbClr val="0B1F3A"/>
                </a:solidFill>
                <a:latin typeface="Calibri" pitchFamily="34" charset="0"/>
                <a:ea typeface="Calibri" pitchFamily="34" charset="-122"/>
                <a:cs typeface="Calibri" pitchFamily="34" charset="-120"/>
              </a:rPr>
              <a:t>مناطق بحث مقترحة تتحدّث مع كل معلومة جديدة</a:t>
            </a:r>
            <a:endParaRPr lang="en-US" sz="2700" dirty="0"/>
          </a:p>
        </p:txBody>
      </p:sp>
      <p:sp>
        <p:nvSpPr>
          <p:cNvPr id="4" name="Shape 2"/>
          <p:cNvSpPr/>
          <p:nvPr/>
        </p:nvSpPr>
        <p:spPr>
          <a:xfrm>
            <a:off x="6255868" y="1828800"/>
            <a:ext cx="5257800" cy="3794760"/>
          </a:xfrm>
          <a:prstGeom prst="roundRect">
            <a:avLst>
              <a:gd name="adj" fmla="val 2892"/>
            </a:avLst>
          </a:prstGeom>
          <a:solidFill>
            <a:srgbClr val="132F52"/>
          </a:solidFill>
          <a:ln w="12700">
            <a:solidFill>
              <a:srgbClr val="E3E9F2"/>
            </a:solidFill>
            <a:prstDash val="solid"/>
          </a:ln>
          <a:effectLst>
            <a:outerShdw sx="100000" sy="100000" kx="0" ky="0" algn="bl" rotWithShape="0" blurRad="101600" dist="38100" dir="5400000">
              <a:srgbClr val="0B1F3A">
                <a:alpha val="12000"/>
              </a:srgbClr>
            </a:outerShdw>
          </a:effectLst>
        </p:spPr>
      </p:sp>
      <p:sp>
        <p:nvSpPr>
          <p:cNvPr id="5" name="Text 3"/>
          <p:cNvSpPr txBox="1"/>
          <p:nvPr/>
        </p:nvSpPr>
        <p:spPr>
          <a:xfrm>
            <a:off x="6530188" y="2057400"/>
            <a:ext cx="4709160" cy="365760"/>
          </a:xfrm>
          <a:prstGeom prst="rect">
            <a:avLst/>
          </a:prstGeom>
          <a:noFill/>
          <a:ln/>
        </p:spPr>
        <p:txBody>
          <a:bodyPr wrap="square" lIns="0" tIns="0" rIns="0" bIns="0" rtlCol="0" anchor="t"/>
          <a:lstStyle/>
          <a:p>
            <a:pPr rtl="1" algn="r" indent="0" marL="0">
              <a:buNone/>
            </a:pPr>
            <a:r>
              <a:rPr lang="en-US" sz="1400" b="1" dirty="0">
                <a:solidFill>
                  <a:srgbClr val="FFFFFF"/>
                </a:solidFill>
                <a:latin typeface="Arial" pitchFamily="34" charset="0"/>
                <a:ea typeface="Arial" pitchFamily="34" charset="-122"/>
                <a:cs typeface="Arial" pitchFamily="34" charset="-120"/>
              </a:rPr>
              <a:t>قبل وصول معلومة جديدة</a:t>
            </a:r>
            <a:endParaRPr lang="en-US" sz="1400" dirty="0"/>
          </a:p>
        </p:txBody>
      </p:sp>
      <p:sp>
        <p:nvSpPr>
          <p:cNvPr id="6" name="Shape 4"/>
          <p:cNvSpPr/>
          <p:nvPr/>
        </p:nvSpPr>
        <p:spPr>
          <a:xfrm>
            <a:off x="8884768" y="3246120"/>
            <a:ext cx="1005840" cy="1005840"/>
          </a:xfrm>
          <a:prstGeom prst="ellipse">
            <a:avLst/>
          </a:prstGeom>
          <a:solidFill>
            <a:srgbClr val="12746F">
              <a:alpha val="45000"/>
            </a:srgbClr>
          </a:solidFill>
          <a:ln w="19050">
            <a:solidFill>
              <a:srgbClr val="12746F"/>
            </a:solidFill>
            <a:prstDash val="dash"/>
          </a:ln>
        </p:spPr>
      </p:sp>
      <p:sp>
        <p:nvSpPr>
          <p:cNvPr id="7" name="Shape 5"/>
          <p:cNvSpPr/>
          <p:nvPr/>
        </p:nvSpPr>
        <p:spPr>
          <a:xfrm>
            <a:off x="9195664" y="3557016"/>
            <a:ext cx="384048" cy="384048"/>
          </a:xfrm>
          <a:prstGeom prst="ellipse">
            <a:avLst/>
          </a:prstGeom>
          <a:solidFill>
            <a:srgbClr val="12746F"/>
          </a:solidFill>
          <a:ln/>
        </p:spPr>
      </p:sp>
      <p:sp>
        <p:nvSpPr>
          <p:cNvPr id="8" name="Text 6"/>
          <p:cNvSpPr txBox="1"/>
          <p:nvPr/>
        </p:nvSpPr>
        <p:spPr>
          <a:xfrm>
            <a:off x="9195664" y="355701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Shape 7"/>
          <p:cNvSpPr/>
          <p:nvPr/>
        </p:nvSpPr>
        <p:spPr>
          <a:xfrm>
            <a:off x="7878928" y="3520440"/>
            <a:ext cx="914400" cy="914400"/>
          </a:xfrm>
          <a:prstGeom prst="ellipse">
            <a:avLst/>
          </a:prstGeom>
          <a:solidFill>
            <a:srgbClr val="22A79A">
              <a:alpha val="45000"/>
            </a:srgbClr>
          </a:solidFill>
          <a:ln w="19050">
            <a:solidFill>
              <a:srgbClr val="22A79A"/>
            </a:solidFill>
            <a:prstDash val="dash"/>
          </a:ln>
        </p:spPr>
      </p:sp>
      <p:sp>
        <p:nvSpPr>
          <p:cNvPr id="10" name="Shape 8"/>
          <p:cNvSpPr/>
          <p:nvPr/>
        </p:nvSpPr>
        <p:spPr>
          <a:xfrm>
            <a:off x="8144104" y="3785616"/>
            <a:ext cx="384048" cy="384048"/>
          </a:xfrm>
          <a:prstGeom prst="ellipse">
            <a:avLst/>
          </a:prstGeom>
          <a:solidFill>
            <a:srgbClr val="22A79A"/>
          </a:solidFill>
          <a:ln/>
        </p:spPr>
      </p:sp>
      <p:sp>
        <p:nvSpPr>
          <p:cNvPr id="11" name="Text 9"/>
          <p:cNvSpPr txBox="1"/>
          <p:nvPr/>
        </p:nvSpPr>
        <p:spPr>
          <a:xfrm>
            <a:off x="8144104" y="378561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Shape 10"/>
          <p:cNvSpPr/>
          <p:nvPr/>
        </p:nvSpPr>
        <p:spPr>
          <a:xfrm>
            <a:off x="8455000" y="4187952"/>
            <a:ext cx="768096" cy="768096"/>
          </a:xfrm>
          <a:prstGeom prst="ellipse">
            <a:avLst/>
          </a:prstGeom>
          <a:solidFill>
            <a:srgbClr val="7FD6C9">
              <a:alpha val="45000"/>
            </a:srgbClr>
          </a:solidFill>
          <a:ln w="19050">
            <a:solidFill>
              <a:srgbClr val="7FD6C9"/>
            </a:solidFill>
            <a:prstDash val="dash"/>
          </a:ln>
        </p:spPr>
      </p:sp>
      <p:sp>
        <p:nvSpPr>
          <p:cNvPr id="13" name="Shape 11"/>
          <p:cNvSpPr/>
          <p:nvPr/>
        </p:nvSpPr>
        <p:spPr>
          <a:xfrm>
            <a:off x="8647024" y="4379976"/>
            <a:ext cx="384048" cy="384048"/>
          </a:xfrm>
          <a:prstGeom prst="ellipse">
            <a:avLst/>
          </a:prstGeom>
          <a:solidFill>
            <a:srgbClr val="7FD6C9"/>
          </a:solidFill>
          <a:ln/>
        </p:spPr>
      </p:sp>
      <p:sp>
        <p:nvSpPr>
          <p:cNvPr id="14" name="Text 12"/>
          <p:cNvSpPr txBox="1"/>
          <p:nvPr/>
        </p:nvSpPr>
        <p:spPr>
          <a:xfrm>
            <a:off x="8647024" y="437997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Shape 13"/>
          <p:cNvSpPr/>
          <p:nvPr/>
        </p:nvSpPr>
        <p:spPr>
          <a:xfrm>
            <a:off x="8811616" y="2624328"/>
            <a:ext cx="146304" cy="146304"/>
          </a:xfrm>
          <a:prstGeom prst="ellipse">
            <a:avLst/>
          </a:prstGeom>
          <a:solidFill>
            <a:srgbClr val="FFFFFF"/>
          </a:solidFill>
          <a:ln/>
        </p:spPr>
      </p:sp>
      <p:sp>
        <p:nvSpPr>
          <p:cNvPr id="16" name="Text 14"/>
          <p:cNvSpPr txBox="1"/>
          <p:nvPr/>
        </p:nvSpPr>
        <p:spPr>
          <a:xfrm>
            <a:off x="6530188" y="2880360"/>
            <a:ext cx="4709160" cy="274320"/>
          </a:xfrm>
          <a:prstGeom prst="rect">
            <a:avLst/>
          </a:prstGeom>
          <a:noFill/>
          <a:ln/>
        </p:spPr>
        <p:txBody>
          <a:bodyPr wrap="square" lIns="0" tIns="0" rIns="0" bIns="0" rtlCol="0" anchor="t"/>
          <a:lstStyle/>
          <a:p>
            <a:pPr rtl="1" algn="ctr" indent="0" marL="0">
              <a:buNone/>
            </a:pPr>
            <a:r>
              <a:rPr lang="en-US" sz="1050" dirty="0">
                <a:solidFill>
                  <a:srgbClr val="B9C6DC"/>
                </a:solidFill>
                <a:latin typeface="Arial" pitchFamily="34" charset="0"/>
                <a:ea typeface="Arial" pitchFamily="34" charset="-122"/>
                <a:cs typeface="Arial" pitchFamily="34" charset="-120"/>
              </a:rPr>
              <a:t>آخر موقع معروف</a:t>
            </a:r>
            <a:endParaRPr lang="en-US" sz="1050" dirty="0"/>
          </a:p>
        </p:txBody>
      </p:sp>
      <p:sp>
        <p:nvSpPr>
          <p:cNvPr id="17" name="Shape 15"/>
          <p:cNvSpPr/>
          <p:nvPr/>
        </p:nvSpPr>
        <p:spPr>
          <a:xfrm>
            <a:off x="678028" y="1828800"/>
            <a:ext cx="5257800" cy="3794760"/>
          </a:xfrm>
          <a:prstGeom prst="roundRect">
            <a:avLst>
              <a:gd name="adj" fmla="val 2892"/>
            </a:avLst>
          </a:prstGeom>
          <a:solidFill>
            <a:srgbClr val="132F52"/>
          </a:solidFill>
          <a:ln w="12700">
            <a:solidFill>
              <a:srgbClr val="E3E9F2"/>
            </a:solidFill>
            <a:prstDash val="solid"/>
          </a:ln>
          <a:effectLst>
            <a:outerShdw sx="100000" sy="100000" kx="0" ky="0" algn="bl" rotWithShape="0" blurRad="101600" dist="38100" dir="5400000">
              <a:srgbClr val="0B1F3A">
                <a:alpha val="12000"/>
              </a:srgbClr>
            </a:outerShdw>
          </a:effectLst>
        </p:spPr>
      </p:sp>
      <p:sp>
        <p:nvSpPr>
          <p:cNvPr id="18" name="Text 16"/>
          <p:cNvSpPr txBox="1"/>
          <p:nvPr/>
        </p:nvSpPr>
        <p:spPr>
          <a:xfrm>
            <a:off x="952348" y="2057400"/>
            <a:ext cx="4709160" cy="365760"/>
          </a:xfrm>
          <a:prstGeom prst="rect">
            <a:avLst/>
          </a:prstGeom>
          <a:noFill/>
          <a:ln/>
        </p:spPr>
        <p:txBody>
          <a:bodyPr wrap="square" lIns="0" tIns="0" rIns="0" bIns="0" rtlCol="0" anchor="t"/>
          <a:lstStyle/>
          <a:p>
            <a:pPr rtl="1" algn="r" indent="0" marL="0">
              <a:buNone/>
            </a:pPr>
            <a:r>
              <a:rPr lang="en-US" sz="1400" b="1" dirty="0">
                <a:solidFill>
                  <a:srgbClr val="FFFFFF"/>
                </a:solidFill>
                <a:latin typeface="Arial" pitchFamily="34" charset="0"/>
                <a:ea typeface="Arial" pitchFamily="34" charset="-122"/>
                <a:cs typeface="Arial" pitchFamily="34" charset="-120"/>
              </a:rPr>
              <a:t>بعد وصول معلومة جديدة (محاكاة)</a:t>
            </a:r>
            <a:endParaRPr lang="en-US" sz="1400" dirty="0"/>
          </a:p>
        </p:txBody>
      </p:sp>
      <p:sp>
        <p:nvSpPr>
          <p:cNvPr id="19" name="Shape 17"/>
          <p:cNvSpPr/>
          <p:nvPr/>
        </p:nvSpPr>
        <p:spPr>
          <a:xfrm>
            <a:off x="3306928" y="3246120"/>
            <a:ext cx="1005840" cy="1005840"/>
          </a:xfrm>
          <a:prstGeom prst="ellipse">
            <a:avLst/>
          </a:prstGeom>
          <a:solidFill>
            <a:srgbClr val="22A79A">
              <a:alpha val="45000"/>
            </a:srgbClr>
          </a:solidFill>
          <a:ln w="19050">
            <a:solidFill>
              <a:srgbClr val="22A79A"/>
            </a:solidFill>
            <a:prstDash val="dash"/>
          </a:ln>
        </p:spPr>
      </p:sp>
      <p:sp>
        <p:nvSpPr>
          <p:cNvPr id="20" name="Shape 18"/>
          <p:cNvSpPr/>
          <p:nvPr/>
        </p:nvSpPr>
        <p:spPr>
          <a:xfrm>
            <a:off x="3617824" y="3557016"/>
            <a:ext cx="384048" cy="384048"/>
          </a:xfrm>
          <a:prstGeom prst="ellipse">
            <a:avLst/>
          </a:prstGeom>
          <a:solidFill>
            <a:srgbClr val="22A79A"/>
          </a:solidFill>
          <a:ln/>
        </p:spPr>
      </p:sp>
      <p:sp>
        <p:nvSpPr>
          <p:cNvPr id="21" name="Text 19"/>
          <p:cNvSpPr txBox="1"/>
          <p:nvPr/>
        </p:nvSpPr>
        <p:spPr>
          <a:xfrm>
            <a:off x="3617824" y="355701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Shape 20"/>
          <p:cNvSpPr/>
          <p:nvPr/>
        </p:nvSpPr>
        <p:spPr>
          <a:xfrm>
            <a:off x="2301088" y="3520440"/>
            <a:ext cx="914400" cy="914400"/>
          </a:xfrm>
          <a:prstGeom prst="ellipse">
            <a:avLst/>
          </a:prstGeom>
          <a:solidFill>
            <a:srgbClr val="12746F">
              <a:alpha val="45000"/>
            </a:srgbClr>
          </a:solidFill>
          <a:ln w="19050">
            <a:solidFill>
              <a:srgbClr val="12746F"/>
            </a:solidFill>
            <a:prstDash val="dash"/>
          </a:ln>
        </p:spPr>
      </p:sp>
      <p:sp>
        <p:nvSpPr>
          <p:cNvPr id="23" name="Shape 21"/>
          <p:cNvSpPr/>
          <p:nvPr/>
        </p:nvSpPr>
        <p:spPr>
          <a:xfrm>
            <a:off x="2566264" y="3785616"/>
            <a:ext cx="384048" cy="384048"/>
          </a:xfrm>
          <a:prstGeom prst="ellipse">
            <a:avLst/>
          </a:prstGeom>
          <a:solidFill>
            <a:srgbClr val="12746F"/>
          </a:solidFill>
          <a:ln/>
        </p:spPr>
      </p:sp>
      <p:sp>
        <p:nvSpPr>
          <p:cNvPr id="24" name="Text 22"/>
          <p:cNvSpPr txBox="1"/>
          <p:nvPr/>
        </p:nvSpPr>
        <p:spPr>
          <a:xfrm>
            <a:off x="2566264" y="378561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5" name="Shape 23"/>
          <p:cNvSpPr/>
          <p:nvPr/>
        </p:nvSpPr>
        <p:spPr>
          <a:xfrm>
            <a:off x="2877160" y="4187952"/>
            <a:ext cx="768096" cy="768096"/>
          </a:xfrm>
          <a:prstGeom prst="ellipse">
            <a:avLst/>
          </a:prstGeom>
          <a:solidFill>
            <a:srgbClr val="7FD6C9">
              <a:alpha val="45000"/>
            </a:srgbClr>
          </a:solidFill>
          <a:ln w="19050">
            <a:solidFill>
              <a:srgbClr val="7FD6C9"/>
            </a:solidFill>
            <a:prstDash val="dash"/>
          </a:ln>
        </p:spPr>
      </p:sp>
      <p:sp>
        <p:nvSpPr>
          <p:cNvPr id="26" name="Shape 24"/>
          <p:cNvSpPr/>
          <p:nvPr/>
        </p:nvSpPr>
        <p:spPr>
          <a:xfrm>
            <a:off x="3069184" y="4379976"/>
            <a:ext cx="384048" cy="384048"/>
          </a:xfrm>
          <a:prstGeom prst="ellipse">
            <a:avLst/>
          </a:prstGeom>
          <a:solidFill>
            <a:srgbClr val="7FD6C9"/>
          </a:solidFill>
          <a:ln/>
        </p:spPr>
      </p:sp>
      <p:sp>
        <p:nvSpPr>
          <p:cNvPr id="27" name="Text 25"/>
          <p:cNvSpPr txBox="1"/>
          <p:nvPr/>
        </p:nvSpPr>
        <p:spPr>
          <a:xfrm>
            <a:off x="3069184" y="437997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8" name="Shape 26"/>
          <p:cNvSpPr/>
          <p:nvPr/>
        </p:nvSpPr>
        <p:spPr>
          <a:xfrm>
            <a:off x="3233776" y="2624328"/>
            <a:ext cx="146304" cy="146304"/>
          </a:xfrm>
          <a:prstGeom prst="ellipse">
            <a:avLst/>
          </a:prstGeom>
          <a:solidFill>
            <a:srgbClr val="FFFFFF"/>
          </a:solidFill>
          <a:ln/>
        </p:spPr>
      </p:sp>
      <p:sp>
        <p:nvSpPr>
          <p:cNvPr id="29" name="Text 27"/>
          <p:cNvSpPr txBox="1"/>
          <p:nvPr/>
        </p:nvSpPr>
        <p:spPr>
          <a:xfrm>
            <a:off x="952348" y="2880360"/>
            <a:ext cx="4709160" cy="274320"/>
          </a:xfrm>
          <a:prstGeom prst="rect">
            <a:avLst/>
          </a:prstGeom>
          <a:noFill/>
          <a:ln/>
        </p:spPr>
        <p:txBody>
          <a:bodyPr wrap="square" lIns="0" tIns="0" rIns="0" bIns="0" rtlCol="0" anchor="t"/>
          <a:lstStyle/>
          <a:p>
            <a:pPr rtl="1" algn="ctr" indent="0" marL="0">
              <a:buNone/>
            </a:pPr>
            <a:r>
              <a:rPr lang="en-US" sz="1050" dirty="0">
                <a:solidFill>
                  <a:srgbClr val="B9C6DC"/>
                </a:solidFill>
                <a:latin typeface="Arial" pitchFamily="34" charset="0"/>
                <a:ea typeface="Arial" pitchFamily="34" charset="-122"/>
                <a:cs typeface="Arial" pitchFamily="34" charset="-120"/>
              </a:rPr>
              <a:t>آخر موقع معروف</a:t>
            </a:r>
            <a:endParaRPr lang="en-US" sz="1050" dirty="0"/>
          </a:p>
        </p:txBody>
      </p:sp>
      <p:sp>
        <p:nvSpPr>
          <p:cNvPr id="30" name="Shape 28"/>
          <p:cNvSpPr/>
          <p:nvPr/>
        </p:nvSpPr>
        <p:spPr>
          <a:xfrm>
            <a:off x="5844388" y="3474720"/>
            <a:ext cx="502920" cy="502920"/>
          </a:xfrm>
          <a:prstGeom prst="ellipse">
            <a:avLst/>
          </a:prstGeom>
          <a:solidFill>
            <a:srgbClr val="E8613C"/>
          </a:solidFill>
          <a:ln/>
        </p:spPr>
      </p:sp>
      <p:sp>
        <p:nvSpPr>
          <p:cNvPr id="31" name="Text 29"/>
          <p:cNvSpPr txBox="1"/>
          <p:nvPr/>
        </p:nvSpPr>
        <p:spPr>
          <a:xfrm>
            <a:off x="5844388" y="345186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32" name="Text 30"/>
          <p:cNvSpPr txBox="1"/>
          <p:nvPr/>
        </p:nvSpPr>
        <p:spPr>
          <a:xfrm>
            <a:off x="640080" y="5852160"/>
            <a:ext cx="10911535" cy="365760"/>
          </a:xfrm>
          <a:prstGeom prst="rect">
            <a:avLst/>
          </a:prstGeom>
          <a:noFill/>
          <a:ln/>
        </p:spPr>
        <p:txBody>
          <a:bodyPr wrap="square" lIns="0" tIns="0" rIns="0" bIns="0" rtlCol="0" anchor="t"/>
          <a:lstStyle/>
          <a:p>
            <a:pPr rtl="1" algn="ctr" indent="0" marL="0">
              <a:buNone/>
            </a:pPr>
            <a:r>
              <a:rPr lang="en-US" sz="1200" i="1" dirty="0">
                <a:solidFill>
                  <a:srgbClr val="5A6B87"/>
                </a:solidFill>
                <a:latin typeface="Arial" pitchFamily="34" charset="0"/>
                <a:ea typeface="Arial" pitchFamily="34" charset="-122"/>
                <a:cs typeface="Arial" pitchFamily="34" charset="-120"/>
              </a:rPr>
              <a:t>محاكاة معلنة على بيانات تجريبية — المواقع المقترحة تقديرات استرشادية وليست تتبعًا مباشرًا</a:t>
            </a:r>
            <a:endParaRPr lang="en-US" sz="1200" dirty="0"/>
          </a:p>
        </p:txBody>
      </p:sp>
      <p:sp>
        <p:nvSpPr>
          <p:cNvPr id="33" name="Text 31"/>
          <p:cNvSpPr txBox="1"/>
          <p:nvPr/>
        </p:nvSpPr>
        <p:spPr>
          <a:xfrm>
            <a:off x="457200" y="6355080"/>
            <a:ext cx="1097280" cy="320040"/>
          </a:xfrm>
          <a:prstGeom prst="rect">
            <a:avLst/>
          </a:prstGeom>
          <a:noFill/>
          <a:ln/>
        </p:spPr>
        <p:txBody>
          <a:bodyPr wrap="square" lIns="0" tIns="0" rIns="0" bIns="0" rtlCol="0" anchor="ctr"/>
          <a:lstStyle/>
          <a:p>
            <a:pPr algn="l" indent="0" marL="0">
              <a:buNone/>
            </a:pPr>
            <a:r>
              <a:rPr lang="en-US" sz="1050" dirty="0">
                <a:solidFill>
                  <a:srgbClr val="5A6B87"/>
                </a:solidFill>
                <a:latin typeface="Arial" pitchFamily="34" charset="0"/>
                <a:ea typeface="Arial" pitchFamily="34" charset="-122"/>
                <a:cs typeface="Arial" pitchFamily="34" charset="-120"/>
              </a:rPr>
              <a:t>6 / 7</a:t>
            </a:r>
            <a:endParaRPr lang="en-US" sz="1050" dirty="0"/>
          </a:p>
        </p:txBody>
      </p:sp>
      <p:sp>
        <p:nvSpPr>
          <p:cNvPr id="34" name="Text 32"/>
          <p:cNvSpPr txBox="1"/>
          <p:nvPr/>
        </p:nvSpPr>
        <p:spPr>
          <a:xfrm>
            <a:off x="7162495" y="6355080"/>
            <a:ext cx="4572000" cy="320040"/>
          </a:xfrm>
          <a:prstGeom prst="rect">
            <a:avLst/>
          </a:prstGeom>
          <a:noFill/>
          <a:ln/>
        </p:spPr>
        <p:txBody>
          <a:bodyPr wrap="square" lIns="0" tIns="0" rIns="0" bIns="0" rtlCol="0" anchor="ctr"/>
          <a:lstStyle/>
          <a:p>
            <a:pPr rtl="1" algn="r" indent="0" marL="0">
              <a:buNone/>
            </a:pPr>
            <a:r>
              <a:rPr lang="en-US" sz="1050" dirty="0">
                <a:solidFill>
                  <a:srgbClr val="5A6B87"/>
                </a:solidFill>
                <a:latin typeface="Arial" pitchFamily="34" charset="0"/>
                <a:ea typeface="Arial" pitchFamily="34" charset="-122"/>
                <a:cs typeface="Arial" pitchFamily="34" charset="-120"/>
              </a:rPr>
              <a:t>أثر — مساعد ذكي للبحث عن المفقودين</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640080" y="411480"/>
            <a:ext cx="10911535" cy="457200"/>
          </a:xfrm>
          <a:prstGeom prst="rect">
            <a:avLst/>
          </a:prstGeom>
          <a:noFill/>
          <a:ln/>
        </p:spPr>
        <p:txBody>
          <a:bodyPr wrap="square" lIns="0" tIns="0" rIns="0" bIns="0" rtlCol="0" anchor="ctr"/>
          <a:lstStyle/>
          <a:p>
            <a:pPr rtl="1" algn="r" indent="0" marL="0">
              <a:buNone/>
            </a:pPr>
            <a:r>
              <a:rPr lang="en-US" sz="1500" b="1" dirty="0">
                <a:solidFill>
                  <a:srgbClr val="7FD6C9"/>
                </a:solidFill>
                <a:latin typeface="Calibri" pitchFamily="34" charset="0"/>
                <a:ea typeface="Calibri" pitchFamily="34" charset="-122"/>
                <a:cs typeface="Calibri" pitchFamily="34" charset="-120"/>
              </a:rPr>
              <a:t>القيمة وخطة الاختبار</a:t>
            </a:r>
            <a:endParaRPr lang="en-US" sz="1500" dirty="0"/>
          </a:p>
        </p:txBody>
      </p:sp>
      <p:sp>
        <p:nvSpPr>
          <p:cNvPr id="3" name="Text 1"/>
          <p:cNvSpPr txBox="1"/>
          <p:nvPr/>
        </p:nvSpPr>
        <p:spPr>
          <a:xfrm>
            <a:off x="640080" y="822960"/>
            <a:ext cx="10911535" cy="640080"/>
          </a:xfrm>
          <a:prstGeom prst="rect">
            <a:avLst/>
          </a:prstGeom>
          <a:noFill/>
          <a:ln/>
        </p:spPr>
        <p:txBody>
          <a:bodyPr wrap="square" lIns="0" tIns="0" rIns="0" bIns="0" rtlCol="0" anchor="ctr"/>
          <a:lstStyle/>
          <a:p>
            <a:pPr rtl="1" algn="r" indent="0" marL="0">
              <a:buNone/>
            </a:pPr>
            <a:r>
              <a:rPr lang="en-US" sz="2800" b="1" dirty="0">
                <a:solidFill>
                  <a:srgbClr val="FFFFFF"/>
                </a:solidFill>
                <a:latin typeface="Calibri" pitchFamily="34" charset="0"/>
                <a:ea typeface="Calibri" pitchFamily="34" charset="-122"/>
                <a:cs typeface="Calibri" pitchFamily="34" charset="-120"/>
              </a:rPr>
              <a:t>ماذا نريد أن نثبت، وكيف سنختبره؟</a:t>
            </a:r>
            <a:endParaRPr lang="en-US" sz="2800" dirty="0"/>
          </a:p>
        </p:txBody>
      </p:sp>
      <p:sp>
        <p:nvSpPr>
          <p:cNvPr id="4" name="Shape 2"/>
          <p:cNvSpPr/>
          <p:nvPr/>
        </p:nvSpPr>
        <p:spPr>
          <a:xfrm>
            <a:off x="6278728" y="1691640"/>
            <a:ext cx="5272888" cy="3566160"/>
          </a:xfrm>
          <a:prstGeom prst="roundRect">
            <a:avLst>
              <a:gd name="adj" fmla="val 2564"/>
            </a:avLst>
          </a:prstGeom>
          <a:solidFill>
            <a:srgbClr val="132F52"/>
          </a:solidFill>
          <a:ln w="12700">
            <a:solidFill>
              <a:srgbClr val="24406B"/>
            </a:solidFill>
            <a:prstDash val="solid"/>
          </a:ln>
        </p:spPr>
      </p:sp>
      <p:sp>
        <p:nvSpPr>
          <p:cNvPr id="5" name="Text 3"/>
          <p:cNvSpPr txBox="1"/>
          <p:nvPr/>
        </p:nvSpPr>
        <p:spPr>
          <a:xfrm>
            <a:off x="6598768" y="1965960"/>
            <a:ext cx="4632808" cy="411480"/>
          </a:xfrm>
          <a:prstGeom prst="rect">
            <a:avLst/>
          </a:prstGeom>
          <a:noFill/>
          <a:ln/>
        </p:spPr>
        <p:txBody>
          <a:bodyPr wrap="square" lIns="0" tIns="0" rIns="0" bIns="0" rtlCol="0" anchor="t"/>
          <a:lstStyle/>
          <a:p>
            <a:pPr rtl="1" algn="r" indent="0" marL="0">
              <a:buNone/>
            </a:pPr>
            <a:r>
              <a:rPr lang="en-US" sz="1700" b="1" dirty="0">
                <a:solidFill>
                  <a:srgbClr val="7FD6C9"/>
                </a:solidFill>
                <a:latin typeface="Arial" pitchFamily="34" charset="0"/>
                <a:ea typeface="Arial" pitchFamily="34" charset="-122"/>
                <a:cs typeface="Arial" pitchFamily="34" charset="-120"/>
              </a:rPr>
              <a:t>القيمة التي نريد اختبارها</a:t>
            </a:r>
            <a:endParaRPr lang="en-US" sz="1700" dirty="0"/>
          </a:p>
        </p:txBody>
      </p:sp>
      <p:sp>
        <p:nvSpPr>
          <p:cNvPr id="6" name="Shape 4"/>
          <p:cNvSpPr/>
          <p:nvPr/>
        </p:nvSpPr>
        <p:spPr>
          <a:xfrm>
            <a:off x="11076127" y="2670048"/>
            <a:ext cx="128016" cy="128016"/>
          </a:xfrm>
          <a:prstGeom prst="ellipse">
            <a:avLst/>
          </a:prstGeom>
          <a:solidFill>
            <a:srgbClr val="22A79A"/>
          </a:solidFill>
          <a:ln/>
        </p:spPr>
      </p:sp>
      <p:sp>
        <p:nvSpPr>
          <p:cNvPr id="7" name="Text 5"/>
          <p:cNvSpPr txBox="1"/>
          <p:nvPr/>
        </p:nvSpPr>
        <p:spPr>
          <a:xfrm>
            <a:off x="6598768" y="2606040"/>
            <a:ext cx="4449928" cy="502920"/>
          </a:xfrm>
          <a:prstGeom prst="rect">
            <a:avLst/>
          </a:prstGeom>
          <a:noFill/>
          <a:ln/>
        </p:spPr>
        <p:txBody>
          <a:bodyPr wrap="square" lIns="0" tIns="0" rIns="0" bIns="0" rtlCol="0" anchor="t"/>
          <a:lstStyle/>
          <a:p>
            <a:pPr rtl="1" algn="r" indent="0" marL="0">
              <a:lnSpc>
                <a:spcPct val="120000"/>
              </a:lnSpc>
              <a:buNone/>
            </a:pPr>
            <a:r>
              <a:rPr lang="en-US" sz="1450" dirty="0">
                <a:solidFill>
                  <a:srgbClr val="E4EAF5"/>
                </a:solidFill>
                <a:latin typeface="Arial" pitchFamily="34" charset="0"/>
                <a:ea typeface="Arial" pitchFamily="34" charset="-122"/>
                <a:cs typeface="Arial" pitchFamily="34" charset="-120"/>
              </a:rPr>
              <a:t>تقليل الوقت اللازم لتجهيز معلومات المسافر</a:t>
            </a:r>
            <a:endParaRPr lang="en-US" sz="1450" dirty="0"/>
          </a:p>
        </p:txBody>
      </p:sp>
      <p:sp>
        <p:nvSpPr>
          <p:cNvPr id="8" name="Shape 6"/>
          <p:cNvSpPr/>
          <p:nvPr/>
        </p:nvSpPr>
        <p:spPr>
          <a:xfrm>
            <a:off x="11076127" y="3355848"/>
            <a:ext cx="128016" cy="128016"/>
          </a:xfrm>
          <a:prstGeom prst="ellipse">
            <a:avLst/>
          </a:prstGeom>
          <a:solidFill>
            <a:srgbClr val="22A79A"/>
          </a:solidFill>
          <a:ln/>
        </p:spPr>
      </p:sp>
      <p:sp>
        <p:nvSpPr>
          <p:cNvPr id="9" name="Text 7"/>
          <p:cNvSpPr txBox="1"/>
          <p:nvPr/>
        </p:nvSpPr>
        <p:spPr>
          <a:xfrm>
            <a:off x="6598768" y="3291840"/>
            <a:ext cx="4449928" cy="502920"/>
          </a:xfrm>
          <a:prstGeom prst="rect">
            <a:avLst/>
          </a:prstGeom>
          <a:noFill/>
          <a:ln/>
        </p:spPr>
        <p:txBody>
          <a:bodyPr wrap="square" lIns="0" tIns="0" rIns="0" bIns="0" rtlCol="0" anchor="t"/>
          <a:lstStyle/>
          <a:p>
            <a:pPr rtl="1" algn="r" indent="0" marL="0">
              <a:lnSpc>
                <a:spcPct val="120000"/>
              </a:lnSpc>
              <a:buNone/>
            </a:pPr>
            <a:r>
              <a:rPr lang="en-US" sz="1450" dirty="0">
                <a:solidFill>
                  <a:srgbClr val="E4EAF5"/>
                </a:solidFill>
                <a:latin typeface="Arial" pitchFamily="34" charset="0"/>
                <a:ea typeface="Arial" pitchFamily="34" charset="-122"/>
                <a:cs typeface="Arial" pitchFamily="34" charset="-120"/>
              </a:rPr>
              <a:t>المساعدة في ترتيب أولويات مناطق البحث</a:t>
            </a:r>
            <a:endParaRPr lang="en-US" sz="1450" dirty="0"/>
          </a:p>
        </p:txBody>
      </p:sp>
      <p:sp>
        <p:nvSpPr>
          <p:cNvPr id="10" name="Shape 8"/>
          <p:cNvSpPr/>
          <p:nvPr/>
        </p:nvSpPr>
        <p:spPr>
          <a:xfrm>
            <a:off x="11076127" y="4041648"/>
            <a:ext cx="128016" cy="128016"/>
          </a:xfrm>
          <a:prstGeom prst="ellipse">
            <a:avLst/>
          </a:prstGeom>
          <a:solidFill>
            <a:srgbClr val="22A79A"/>
          </a:solidFill>
          <a:ln/>
        </p:spPr>
      </p:sp>
      <p:sp>
        <p:nvSpPr>
          <p:cNvPr id="11" name="Text 9"/>
          <p:cNvSpPr txBox="1"/>
          <p:nvPr/>
        </p:nvSpPr>
        <p:spPr>
          <a:xfrm>
            <a:off x="6598768" y="3977640"/>
            <a:ext cx="4449928" cy="502920"/>
          </a:xfrm>
          <a:prstGeom prst="rect">
            <a:avLst/>
          </a:prstGeom>
          <a:noFill/>
          <a:ln/>
        </p:spPr>
        <p:txBody>
          <a:bodyPr wrap="square" lIns="0" tIns="0" rIns="0" bIns="0" rtlCol="0" anchor="t"/>
          <a:lstStyle/>
          <a:p>
            <a:pPr rtl="1" algn="r" indent="0" marL="0">
              <a:lnSpc>
                <a:spcPct val="120000"/>
              </a:lnSpc>
              <a:buNone/>
            </a:pPr>
            <a:r>
              <a:rPr lang="en-US" sz="1450" dirty="0">
                <a:solidFill>
                  <a:srgbClr val="E4EAF5"/>
                </a:solidFill>
                <a:latin typeface="Arial" pitchFamily="34" charset="0"/>
                <a:ea typeface="Arial" pitchFamily="34" charset="-122"/>
                <a:cs typeface="Arial" pitchFamily="34" charset="-120"/>
              </a:rPr>
              <a:t>بطاقة رحلة واضحة وقابلة للمشاركة فورًا</a:t>
            </a:r>
            <a:endParaRPr lang="en-US" sz="1450" dirty="0"/>
          </a:p>
        </p:txBody>
      </p:sp>
      <p:sp>
        <p:nvSpPr>
          <p:cNvPr id="12" name="Text 10"/>
          <p:cNvSpPr txBox="1"/>
          <p:nvPr/>
        </p:nvSpPr>
        <p:spPr>
          <a:xfrm>
            <a:off x="6598768" y="4754880"/>
            <a:ext cx="4632808" cy="365760"/>
          </a:xfrm>
          <a:prstGeom prst="rect">
            <a:avLst/>
          </a:prstGeom>
          <a:noFill/>
          <a:ln/>
        </p:spPr>
        <p:txBody>
          <a:bodyPr wrap="square" lIns="0" tIns="0" rIns="0" bIns="0" rtlCol="0" anchor="t"/>
          <a:lstStyle/>
          <a:p>
            <a:pPr rtl="1" algn="r" indent="0" marL="0">
              <a:buNone/>
            </a:pPr>
            <a:r>
              <a:rPr lang="en-US" sz="1150" i="1" dirty="0">
                <a:solidFill>
                  <a:srgbClr val="8AA0C2"/>
                </a:solidFill>
                <a:latin typeface="Arial" pitchFamily="34" charset="0"/>
                <a:ea typeface="Arial" pitchFamily="34" charset="-122"/>
                <a:cs typeface="Arial" pitchFamily="34" charset="-120"/>
              </a:rPr>
              <a:t>المشروع في مرحلة التصميم؛ لا نتائج فعلية بعد.</a:t>
            </a:r>
            <a:endParaRPr lang="en-US" sz="1150" dirty="0"/>
          </a:p>
        </p:txBody>
      </p:sp>
      <p:sp>
        <p:nvSpPr>
          <p:cNvPr id="13" name="Shape 11"/>
          <p:cNvSpPr/>
          <p:nvPr/>
        </p:nvSpPr>
        <p:spPr>
          <a:xfrm>
            <a:off x="640080" y="1691640"/>
            <a:ext cx="5272888" cy="3566160"/>
          </a:xfrm>
          <a:prstGeom prst="roundRect">
            <a:avLst>
              <a:gd name="adj" fmla="val 2564"/>
            </a:avLst>
          </a:prstGeom>
          <a:solidFill>
            <a:srgbClr val="132F52"/>
          </a:solidFill>
          <a:ln w="12700">
            <a:solidFill>
              <a:srgbClr val="24406B"/>
            </a:solidFill>
            <a:prstDash val="solid"/>
          </a:ln>
        </p:spPr>
      </p:sp>
      <p:sp>
        <p:nvSpPr>
          <p:cNvPr id="14" name="Text 12"/>
          <p:cNvSpPr txBox="1"/>
          <p:nvPr/>
        </p:nvSpPr>
        <p:spPr>
          <a:xfrm>
            <a:off x="960120" y="1965960"/>
            <a:ext cx="4632808" cy="411480"/>
          </a:xfrm>
          <a:prstGeom prst="rect">
            <a:avLst/>
          </a:prstGeom>
          <a:noFill/>
          <a:ln/>
        </p:spPr>
        <p:txBody>
          <a:bodyPr wrap="square" lIns="0" tIns="0" rIns="0" bIns="0" rtlCol="0" anchor="t"/>
          <a:lstStyle/>
          <a:p>
            <a:pPr rtl="1" algn="r" indent="0" marL="0">
              <a:buNone/>
            </a:pPr>
            <a:r>
              <a:rPr lang="en-US" sz="1700" b="1" dirty="0">
                <a:solidFill>
                  <a:srgbClr val="7FD6C9"/>
                </a:solidFill>
                <a:latin typeface="Arial" pitchFamily="34" charset="0"/>
                <a:ea typeface="Arial" pitchFamily="34" charset="-122"/>
                <a:cs typeface="Arial" pitchFamily="34" charset="-120"/>
              </a:rPr>
              <a:t>خطة التحقق المقترحة</a:t>
            </a:r>
            <a:endParaRPr lang="en-US" sz="1700" dirty="0"/>
          </a:p>
        </p:txBody>
      </p:sp>
      <p:sp>
        <p:nvSpPr>
          <p:cNvPr id="15" name="Text 13"/>
          <p:cNvSpPr txBox="1"/>
          <p:nvPr/>
        </p:nvSpPr>
        <p:spPr>
          <a:xfrm>
            <a:off x="5227168" y="2606040"/>
            <a:ext cx="365760" cy="365760"/>
          </a:xfrm>
          <a:prstGeom prst="rect">
            <a:avLst/>
          </a:prstGeom>
          <a:solidFill>
            <a:srgbClr val="12746F"/>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4"/>
          <p:cNvSpPr txBox="1"/>
          <p:nvPr/>
        </p:nvSpPr>
        <p:spPr>
          <a:xfrm>
            <a:off x="960120" y="2606040"/>
            <a:ext cx="4129888" cy="502920"/>
          </a:xfrm>
          <a:prstGeom prst="rect">
            <a:avLst/>
          </a:prstGeom>
          <a:noFill/>
          <a:ln/>
        </p:spPr>
        <p:txBody>
          <a:bodyPr wrap="square" lIns="0" tIns="0" rIns="0" bIns="0" rtlCol="0" anchor="t"/>
          <a:lstStyle/>
          <a:p>
            <a:pPr rtl="1" algn="r" indent="0" marL="0">
              <a:lnSpc>
                <a:spcPct val="120000"/>
              </a:lnSpc>
              <a:buNone/>
            </a:pPr>
            <a:r>
              <a:rPr lang="en-US" sz="1450" dirty="0">
                <a:solidFill>
                  <a:srgbClr val="E4EAF5"/>
                </a:solidFill>
                <a:latin typeface="Arial" pitchFamily="34" charset="0"/>
                <a:ea typeface="Arial" pitchFamily="34" charset="-122"/>
                <a:cs typeface="Arial" pitchFamily="34" charset="-120"/>
              </a:rPr>
              <a:t>رحلات تجريبية معروفة المسار مسبقًا</a:t>
            </a:r>
            <a:endParaRPr lang="en-US" sz="1450" dirty="0"/>
          </a:p>
        </p:txBody>
      </p:sp>
      <p:sp>
        <p:nvSpPr>
          <p:cNvPr id="17" name="Text 15"/>
          <p:cNvSpPr txBox="1"/>
          <p:nvPr/>
        </p:nvSpPr>
        <p:spPr>
          <a:xfrm>
            <a:off x="5227168" y="3291840"/>
            <a:ext cx="365760" cy="365760"/>
          </a:xfrm>
          <a:prstGeom prst="rect">
            <a:avLst/>
          </a:prstGeom>
          <a:solidFill>
            <a:srgbClr val="12746F"/>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txBox="1"/>
          <p:nvPr/>
        </p:nvSpPr>
        <p:spPr>
          <a:xfrm>
            <a:off x="960120" y="3291840"/>
            <a:ext cx="4129888" cy="502920"/>
          </a:xfrm>
          <a:prstGeom prst="rect">
            <a:avLst/>
          </a:prstGeom>
          <a:noFill/>
          <a:ln/>
        </p:spPr>
        <p:txBody>
          <a:bodyPr wrap="square" lIns="0" tIns="0" rIns="0" bIns="0" rtlCol="0" anchor="t"/>
          <a:lstStyle/>
          <a:p>
            <a:pPr rtl="1" algn="r" indent="0" marL="0">
              <a:lnSpc>
                <a:spcPct val="120000"/>
              </a:lnSpc>
              <a:buNone/>
            </a:pPr>
            <a:r>
              <a:rPr lang="en-US" sz="1450" dirty="0">
                <a:solidFill>
                  <a:srgbClr val="E4EAF5"/>
                </a:solidFill>
                <a:latin typeface="Arial" pitchFamily="34" charset="0"/>
                <a:ea typeface="Arial" pitchFamily="34" charset="-122"/>
                <a:cs typeface="Arial" pitchFamily="34" charset="-120"/>
              </a:rPr>
              <a:t>إخفاء المواقع بعد نقطة انقطاع افتراضية</a:t>
            </a:r>
            <a:endParaRPr lang="en-US" sz="1450" dirty="0"/>
          </a:p>
        </p:txBody>
      </p:sp>
      <p:sp>
        <p:nvSpPr>
          <p:cNvPr id="19" name="Text 17"/>
          <p:cNvSpPr txBox="1"/>
          <p:nvPr/>
        </p:nvSpPr>
        <p:spPr>
          <a:xfrm>
            <a:off x="5227168" y="3977640"/>
            <a:ext cx="365760" cy="365760"/>
          </a:xfrm>
          <a:prstGeom prst="rect">
            <a:avLst/>
          </a:prstGeom>
          <a:solidFill>
            <a:srgbClr val="12746F"/>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960120" y="3977640"/>
            <a:ext cx="4129888" cy="502920"/>
          </a:xfrm>
          <a:prstGeom prst="rect">
            <a:avLst/>
          </a:prstGeom>
          <a:noFill/>
          <a:ln/>
        </p:spPr>
        <p:txBody>
          <a:bodyPr wrap="square" lIns="0" tIns="0" rIns="0" bIns="0" rtlCol="0" anchor="t"/>
          <a:lstStyle/>
          <a:p>
            <a:pPr rtl="1" algn="r" indent="0" marL="0">
              <a:lnSpc>
                <a:spcPct val="120000"/>
              </a:lnSpc>
              <a:buNone/>
            </a:pPr>
            <a:r>
              <a:rPr lang="en-US" sz="1450" dirty="0">
                <a:solidFill>
                  <a:srgbClr val="E4EAF5"/>
                </a:solidFill>
                <a:latin typeface="Arial" pitchFamily="34" charset="0"/>
                <a:ea typeface="Arial" pitchFamily="34" charset="-122"/>
                <a:cs typeface="Arial" pitchFamily="34" charset="-120"/>
              </a:rPr>
              <a:t>مقارنة مناطق البحث بالموقع الحقيقي</a:t>
            </a:r>
            <a:endParaRPr lang="en-US" sz="1450" dirty="0"/>
          </a:p>
        </p:txBody>
      </p:sp>
      <p:sp>
        <p:nvSpPr>
          <p:cNvPr id="21" name="Text 19"/>
          <p:cNvSpPr txBox="1"/>
          <p:nvPr/>
        </p:nvSpPr>
        <p:spPr>
          <a:xfrm>
            <a:off x="960120" y="4572000"/>
            <a:ext cx="4632808" cy="548640"/>
          </a:xfrm>
          <a:prstGeom prst="rect">
            <a:avLst/>
          </a:prstGeom>
          <a:noFill/>
          <a:ln/>
        </p:spPr>
        <p:txBody>
          <a:bodyPr wrap="square" lIns="0" tIns="0" rIns="0" bIns="0" rtlCol="0" anchor="t"/>
          <a:lstStyle/>
          <a:p>
            <a:pPr rtl="1" algn="r" indent="0" marL="0">
              <a:buNone/>
            </a:pPr>
            <a:r>
              <a:rPr lang="en-US" sz="1150" i="1" dirty="0">
                <a:solidFill>
                  <a:srgbClr val="8AA0C2"/>
                </a:solidFill>
                <a:latin typeface="Arial" pitchFamily="34" charset="0"/>
                <a:ea typeface="Arial" pitchFamily="34" charset="-122"/>
                <a:cs typeface="Arial" pitchFamily="34" charset="-120"/>
              </a:rPr>
              <a:t>المقاييس: احتواء المنطقة للموقع الحقيقي، مساحتها، ووقت تجهيز البطاقة.</a:t>
            </a:r>
            <a:endParaRPr lang="en-US" sz="1150" dirty="0"/>
          </a:p>
        </p:txBody>
      </p:sp>
      <p:sp>
        <p:nvSpPr>
          <p:cNvPr id="22" name="Text 20"/>
          <p:cNvSpPr txBox="1"/>
          <p:nvPr/>
        </p:nvSpPr>
        <p:spPr>
          <a:xfrm>
            <a:off x="640080" y="5852160"/>
            <a:ext cx="10911535" cy="365760"/>
          </a:xfrm>
          <a:prstGeom prst="rect">
            <a:avLst/>
          </a:prstGeom>
          <a:noFill/>
          <a:ln/>
        </p:spPr>
        <p:txBody>
          <a:bodyPr wrap="square" lIns="0" tIns="0" rIns="0" bIns="0" rtlCol="0" anchor="ctr"/>
          <a:lstStyle/>
          <a:p>
            <a:pPr rtl="1" algn="ctr" indent="0" marL="0">
              <a:buNone/>
            </a:pPr>
            <a:r>
              <a:rPr lang="en-US" sz="1500" b="1" dirty="0">
                <a:solidFill>
                  <a:srgbClr val="22A79A"/>
                </a:solidFill>
                <a:latin typeface="Calibri" pitchFamily="34" charset="0"/>
                <a:ea typeface="Calibri" pitchFamily="34" charset="-122"/>
                <a:cs typeface="Calibri" pitchFamily="34" charset="-120"/>
              </a:rPr>
              <a:t>أثر — معلومات أوضح، وبداية بحث أكثر تنظيمًا</a:t>
            </a:r>
            <a:endParaRPr lang="en-US" sz="1500" dirty="0"/>
          </a:p>
        </p:txBody>
      </p:sp>
      <p:sp>
        <p:nvSpPr>
          <p:cNvPr id="23" name="Text 21"/>
          <p:cNvSpPr txBox="1"/>
          <p:nvPr/>
        </p:nvSpPr>
        <p:spPr>
          <a:xfrm>
            <a:off x="457200" y="6355080"/>
            <a:ext cx="1097280" cy="320040"/>
          </a:xfrm>
          <a:prstGeom prst="rect">
            <a:avLst/>
          </a:prstGeom>
          <a:noFill/>
          <a:ln/>
        </p:spPr>
        <p:txBody>
          <a:bodyPr wrap="square" lIns="0" tIns="0" rIns="0" bIns="0" rtlCol="0" anchor="ctr"/>
          <a:lstStyle/>
          <a:p>
            <a:pPr algn="l" indent="0" marL="0">
              <a:buNone/>
            </a:pPr>
            <a:r>
              <a:rPr lang="en-US" sz="1050" dirty="0">
                <a:solidFill>
                  <a:srgbClr val="8AA0C2"/>
                </a:solidFill>
                <a:latin typeface="Arial" pitchFamily="34" charset="0"/>
                <a:ea typeface="Arial" pitchFamily="34" charset="-122"/>
                <a:cs typeface="Arial" pitchFamily="34" charset="-120"/>
              </a:rPr>
              <a:t>7 / 7</a:t>
            </a:r>
            <a:endParaRPr lang="en-US" sz="1050" dirty="0"/>
          </a:p>
        </p:txBody>
      </p:sp>
      <p:sp>
        <p:nvSpPr>
          <p:cNvPr id="24" name="Text 22"/>
          <p:cNvSpPr txBox="1"/>
          <p:nvPr/>
        </p:nvSpPr>
        <p:spPr>
          <a:xfrm>
            <a:off x="7162495" y="6355080"/>
            <a:ext cx="4572000" cy="320040"/>
          </a:xfrm>
          <a:prstGeom prst="rect">
            <a:avLst/>
          </a:prstGeom>
          <a:noFill/>
          <a:ln/>
        </p:spPr>
        <p:txBody>
          <a:bodyPr wrap="square" lIns="0" tIns="0" rIns="0" bIns="0" rtlCol="0" anchor="ctr"/>
          <a:lstStyle/>
          <a:p>
            <a:pPr rtl="1" algn="r" indent="0" marL="0">
              <a:buNone/>
            </a:pPr>
            <a:r>
              <a:rPr lang="en-US" sz="1050" dirty="0">
                <a:solidFill>
                  <a:srgbClr val="8AA0C2"/>
                </a:solidFill>
                <a:latin typeface="Arial" pitchFamily="34" charset="0"/>
                <a:ea typeface="Arial" pitchFamily="34" charset="-122"/>
                <a:cs typeface="Arial" pitchFamily="34" charset="-120"/>
              </a:rPr>
              <a:t>أثر — مساعد ذكي للبحث عن المفقودين</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2026-09-16T17:22:21Z</dcterms:created>
  <dcterms:modified xsi:type="dcterms:W3CDTF">2026-09-16T17:22:21Z</dcterms:modified>
</cp:coreProperties>
</file>